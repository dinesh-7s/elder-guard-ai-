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3716000" cy="77152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snapToObjects="1">
      <p:cViewPr varScale="1">
        <p:scale>
          <a:sx n="49" d="100"/>
          <a:sy n="49" d="100"/>
        </p:scale>
        <p:origin x="-696" y="-6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pPr/>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pPr/>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6.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BFA"/>
        </a:solidFill>
        <a:effectLst/>
      </p:bgPr>
    </p:bg>
    <p:spTree>
      <p:nvGrpSpPr>
        <p:cNvPr id="1" name=""/>
        <p:cNvGrpSpPr/>
        <p:nvPr/>
      </p:nvGrpSpPr>
      <p:grpSpPr>
        <a:xfrm>
          <a:off x="0" y="0"/>
          <a:ext cx="0" cy="0"/>
          <a:chOff x="0" y="0"/>
          <a:chExt cx="0" cy="0"/>
        </a:xfrm>
      </p:grpSpPr>
      <p:pic>
        <p:nvPicPr>
          <p:cNvPr id="2" name="College crest" descr="crest.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png"/>
          <p:cNvPicPr>
            <a:picLocks noChangeAspect="1"/>
          </p:cNvPicPr>
          <p:nvPr/>
        </p:nvPicPr>
        <p:blipFill>
          <a:blip r:embed="rId3"/>
          <a:stretch>
            <a:fillRect/>
          </a:stretch>
        </p:blipFill>
        <p:spPr>
          <a:xfrm>
            <a:off x="11639550" y="0"/>
            <a:ext cx="2076450" cy="1028700"/>
          </a:xfrm>
          <a:prstGeom prst="rect">
            <a:avLst/>
          </a:prstGeom>
        </p:spPr>
      </p:pic>
      <p:sp>
        <p:nvSpPr>
          <p:cNvPr id="4" name="College"/>
          <p:cNvSpPr txBox="1"/>
          <p:nvPr/>
        </p:nvSpPr>
        <p:spPr>
          <a:xfrm>
            <a:off x="0" y="666750"/>
            <a:ext cx="13716000" cy="666750"/>
          </a:xfrm>
          <a:prstGeom prst="rect">
            <a:avLst/>
          </a:prstGeom>
          <a:noFill/>
        </p:spPr>
        <p:txBody>
          <a:bodyPr wrap="square" lIns="0" tIns="0" rIns="0" bIns="0" anchor="t">
            <a:noAutofit/>
          </a:bodyPr>
          <a:lstStyle/>
          <a:p>
            <a:pPr algn="ctr">
              <a:lnSpc>
                <a:spcPct val="112000"/>
              </a:lnSpc>
            </a:pPr>
            <a:r>
              <a:rPr sz="3450" b="0" i="0">
                <a:solidFill>
                  <a:srgbClr val="3F342E"/>
                </a:solidFill>
                <a:latin typeface="Times New Roman"/>
              </a:rPr>
              <a:t>SNS COLLEGE OF TECHNOLOGY</a:t>
            </a:r>
          </a:p>
        </p:txBody>
      </p:sp>
      <p:sp>
        <p:nvSpPr>
          <p:cNvPr id="5" name="Course"/>
          <p:cNvSpPr txBox="1"/>
          <p:nvPr/>
        </p:nvSpPr>
        <p:spPr>
          <a:xfrm>
            <a:off x="0" y="1524000"/>
            <a:ext cx="13716000" cy="381000"/>
          </a:xfrm>
          <a:prstGeom prst="rect">
            <a:avLst/>
          </a:prstGeom>
          <a:noFill/>
        </p:spPr>
        <p:txBody>
          <a:bodyPr wrap="square" lIns="0" tIns="0" rIns="0" bIns="0" anchor="t">
            <a:noAutofit/>
          </a:bodyPr>
          <a:lstStyle/>
          <a:p>
            <a:pPr algn="ctr">
              <a:lnSpc>
                <a:spcPct val="112000"/>
              </a:lnSpc>
            </a:pPr>
            <a:r>
              <a:rPr sz="2100" b="0" i="0">
                <a:solidFill>
                  <a:srgbClr val="3F342E"/>
                </a:solidFill>
                <a:latin typeface="Times New Roman"/>
              </a:rPr>
              <a:t>23ITP202 MINI PROJECT- I</a:t>
            </a:r>
          </a:p>
        </p:txBody>
      </p:sp>
      <p:sp>
        <p:nvSpPr>
          <p:cNvPr id="6" name="Tagline card"/>
          <p:cNvSpPr/>
          <p:nvPr/>
        </p:nvSpPr>
        <p:spPr>
          <a:xfrm>
            <a:off x="504825" y="2819400"/>
            <a:ext cx="5295900" cy="3848100"/>
          </a:xfrm>
          <a:prstGeom prst="roundRect">
            <a:avLst>
              <a:gd name="adj" fmla="val 3465"/>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heartbeat" descr="icon_Heartbeat_FFFFFF.png"/>
          <p:cNvPicPr>
            <a:picLocks noChangeAspect="1"/>
          </p:cNvPicPr>
          <p:nvPr/>
        </p:nvPicPr>
        <p:blipFill>
          <a:blip r:embed="rId4"/>
          <a:stretch>
            <a:fillRect/>
          </a:stretch>
        </p:blipFill>
        <p:spPr>
          <a:xfrm>
            <a:off x="2390775" y="3238500"/>
            <a:ext cx="1524000" cy="1524000"/>
          </a:xfrm>
          <a:prstGeom prst="rect">
            <a:avLst/>
          </a:prstGeom>
        </p:spPr>
      </p:pic>
      <p:sp>
        <p:nvSpPr>
          <p:cNvPr id="8" name="Tagline"/>
          <p:cNvSpPr txBox="1"/>
          <p:nvPr/>
        </p:nvSpPr>
        <p:spPr>
          <a:xfrm>
            <a:off x="504825" y="5334000"/>
            <a:ext cx="5295900" cy="857250"/>
          </a:xfrm>
          <a:prstGeom prst="rect">
            <a:avLst/>
          </a:prstGeom>
          <a:noFill/>
        </p:spPr>
        <p:txBody>
          <a:bodyPr wrap="square" lIns="0" tIns="0" rIns="0" bIns="0" anchor="t">
            <a:noAutofit/>
          </a:bodyPr>
          <a:lstStyle/>
          <a:p>
            <a:pPr algn="ctr">
              <a:lnSpc>
                <a:spcPct val="135000"/>
              </a:lnSpc>
            </a:pPr>
            <a:r>
              <a:rPr sz="2025" b="0" i="0">
                <a:solidFill>
                  <a:srgbClr val="FFFFFF"/>
                </a:solidFill>
                <a:latin typeface="Times New Roman"/>
              </a:rPr>
              <a:t>Care that reaches them,</a:t>
            </a:r>
          </a:p>
          <a:p>
            <a:pPr algn="ctr">
              <a:lnSpc>
                <a:spcPct val="135000"/>
              </a:lnSpc>
            </a:pPr>
            <a:r>
              <a:rPr sz="2025" b="0" i="0">
                <a:solidFill>
                  <a:srgbClr val="FFFFFF"/>
                </a:solidFill>
                <a:latin typeface="Times New Roman"/>
              </a:rPr>
              <a:t>wherever you are</a:t>
            </a:r>
          </a:p>
        </p:txBody>
      </p:sp>
      <p:sp>
        <p:nvSpPr>
          <p:cNvPr id="9" name="Project name"/>
          <p:cNvSpPr txBox="1"/>
          <p:nvPr/>
        </p:nvSpPr>
        <p:spPr>
          <a:xfrm>
            <a:off x="6172200" y="2819400"/>
            <a:ext cx="7048500" cy="1047750"/>
          </a:xfrm>
          <a:prstGeom prst="rect">
            <a:avLst/>
          </a:prstGeom>
          <a:noFill/>
        </p:spPr>
        <p:txBody>
          <a:bodyPr wrap="square" lIns="0" tIns="0" rIns="0" bIns="0" anchor="t">
            <a:noAutofit/>
          </a:bodyPr>
          <a:lstStyle/>
          <a:p>
            <a:pPr algn="l">
              <a:lnSpc>
                <a:spcPct val="105000"/>
              </a:lnSpc>
            </a:pPr>
            <a:r>
              <a:rPr sz="3000" b="0" i="0">
                <a:solidFill>
                  <a:srgbClr val="3F342E"/>
                </a:solidFill>
                <a:latin typeface="Times New Roman"/>
              </a:rPr>
              <a:t>ELDERGUARD AI: CONNECTED ELDER CARE PLATFORM</a:t>
            </a:r>
          </a:p>
        </p:txBody>
      </p:sp>
      <p:sp>
        <p:nvSpPr>
          <p:cNvPr id="10" name="Subtitle"/>
          <p:cNvSpPr txBox="1"/>
          <p:nvPr/>
        </p:nvSpPr>
        <p:spPr>
          <a:xfrm>
            <a:off x="6172200" y="3981450"/>
            <a:ext cx="7239000" cy="342900"/>
          </a:xfrm>
          <a:prstGeom prst="rect">
            <a:avLst/>
          </a:prstGeom>
          <a:noFill/>
        </p:spPr>
        <p:txBody>
          <a:bodyPr wrap="square" lIns="0" tIns="0" rIns="0" bIns="0" anchor="t">
            <a:noAutofit/>
          </a:bodyPr>
          <a:lstStyle/>
          <a:p>
            <a:pPr algn="l">
              <a:lnSpc>
                <a:spcPct val="112000"/>
              </a:lnSpc>
            </a:pPr>
            <a:r>
              <a:rPr sz="1650" b="0" i="1">
                <a:solidFill>
                  <a:srgbClr val="8B5D52"/>
                </a:solidFill>
                <a:latin typeface="Times New Roman"/>
              </a:rPr>
              <a:t>Problem Statement: Elder Safety, Health Monitoring and Connected Care</a:t>
            </a:r>
          </a:p>
        </p:txBody>
      </p:sp>
      <p:sp>
        <p:nvSpPr>
          <p:cNvPr id="11" name="Presented by"/>
          <p:cNvSpPr txBox="1"/>
          <p:nvPr/>
        </p:nvSpPr>
        <p:spPr>
          <a:xfrm>
            <a:off x="7096125" y="4648200"/>
            <a:ext cx="4762500" cy="419100"/>
          </a:xfrm>
          <a:prstGeom prst="rect">
            <a:avLst/>
          </a:prstGeom>
          <a:noFill/>
        </p:spPr>
        <p:txBody>
          <a:bodyPr wrap="square" lIns="0" tIns="0" rIns="0" bIns="0" anchor="t">
            <a:noAutofit/>
          </a:bodyPr>
          <a:lstStyle/>
          <a:p>
            <a:pPr algn="l">
              <a:lnSpc>
                <a:spcPct val="112000"/>
              </a:lnSpc>
            </a:pPr>
            <a:r>
              <a:rPr sz="2250" b="0" i="0">
                <a:solidFill>
                  <a:srgbClr val="3F342E"/>
                </a:solidFill>
                <a:latin typeface="Times New Roman"/>
              </a:rPr>
              <a:t>Presented By:</a:t>
            </a:r>
          </a:p>
        </p:txBody>
      </p:sp>
      <p:sp>
        <p:nvSpPr>
          <p:cNvPr id="12" name="Team"/>
          <p:cNvSpPr txBox="1"/>
          <p:nvPr/>
        </p:nvSpPr>
        <p:spPr>
          <a:xfrm>
            <a:off x="7410450" y="5295900"/>
            <a:ext cx="6096000" cy="1905000"/>
          </a:xfrm>
          <a:prstGeom prst="rect">
            <a:avLst/>
          </a:prstGeom>
          <a:noFill/>
        </p:spPr>
        <p:txBody>
          <a:bodyPr wrap="square" lIns="0" tIns="0" rIns="0" bIns="0" anchor="t">
            <a:noAutofit/>
          </a:bodyPr>
          <a:lstStyle/>
          <a:p>
            <a:pPr algn="l">
              <a:lnSpc>
                <a:spcPct val="120000"/>
              </a:lnSpc>
            </a:pPr>
            <a:r>
              <a:rPr sz="2250" b="0" i="0" smtClean="0">
                <a:solidFill>
                  <a:srgbClr val="3F342E"/>
                </a:solidFill>
                <a:latin typeface="Times New Roman"/>
              </a:rPr>
              <a:t>713525AD0</a:t>
            </a:r>
            <a:r>
              <a:rPr lang="en-AU" sz="2250" b="0" i="0" dirty="0" smtClean="0">
                <a:solidFill>
                  <a:srgbClr val="3F342E"/>
                </a:solidFill>
                <a:latin typeface="Times New Roman"/>
              </a:rPr>
              <a:t>29 – DINESH N </a:t>
            </a:r>
            <a:endParaRPr sz="2250" b="0" i="0">
              <a:solidFill>
                <a:srgbClr val="3F342E"/>
              </a:solidFill>
              <a:latin typeface="Times New Roman"/>
            </a:endParaRPr>
          </a:p>
          <a:p>
            <a:pPr algn="l">
              <a:lnSpc>
                <a:spcPct val="120000"/>
              </a:lnSpc>
            </a:pPr>
            <a:r>
              <a:rPr sz="2250" b="0" i="0" smtClean="0">
                <a:solidFill>
                  <a:srgbClr val="3F342E"/>
                </a:solidFill>
                <a:latin typeface="Times New Roman"/>
              </a:rPr>
              <a:t>713525AD0</a:t>
            </a:r>
            <a:r>
              <a:rPr lang="en-AU" sz="2250" b="0" i="0" dirty="0" smtClean="0">
                <a:solidFill>
                  <a:srgbClr val="3F342E"/>
                </a:solidFill>
                <a:latin typeface="Times New Roman"/>
              </a:rPr>
              <a:t>13- BHOOPESH M </a:t>
            </a:r>
            <a:endParaRPr sz="2250" b="0" i="0">
              <a:solidFill>
                <a:srgbClr val="3F342E"/>
              </a:solidFill>
              <a:latin typeface="Times New Roman"/>
            </a:endParaRPr>
          </a:p>
          <a:p>
            <a:pPr algn="l">
              <a:lnSpc>
                <a:spcPct val="120000"/>
              </a:lnSpc>
            </a:pPr>
            <a:r>
              <a:rPr sz="2250" b="0" i="0" smtClean="0">
                <a:solidFill>
                  <a:srgbClr val="3F342E"/>
                </a:solidFill>
                <a:latin typeface="Times New Roman"/>
              </a:rPr>
              <a:t>713525AD0</a:t>
            </a:r>
            <a:r>
              <a:rPr lang="en-AU" sz="2250" b="0" i="0" dirty="0" smtClean="0">
                <a:solidFill>
                  <a:srgbClr val="3F342E"/>
                </a:solidFill>
                <a:latin typeface="Times New Roman"/>
              </a:rPr>
              <a:t>14- DHARSHAN V </a:t>
            </a:r>
            <a:endParaRPr sz="2250" b="0" i="0">
              <a:solidFill>
                <a:srgbClr val="3F342E"/>
              </a:solidFill>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BFA"/>
        </a:solidFill>
        <a:effectLst/>
      </p:bgPr>
    </p:bg>
    <p:spTree>
      <p:nvGrpSpPr>
        <p:cNvPr id="1" name=""/>
        <p:cNvGrpSpPr/>
        <p:nvPr/>
      </p:nvGrpSpPr>
      <p:grpSpPr>
        <a:xfrm>
          <a:off x="0" y="0"/>
          <a:ext cx="0" cy="0"/>
          <a:chOff x="0" y="0"/>
          <a:chExt cx="0" cy="0"/>
        </a:xfrm>
      </p:grpSpPr>
      <p:pic>
        <p:nvPicPr>
          <p:cNvPr id="2" name="College crest" descr="crest.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png"/>
          <p:cNvPicPr>
            <a:picLocks noChangeAspect="1"/>
          </p:cNvPicPr>
          <p:nvPr/>
        </p:nvPicPr>
        <p:blipFill>
          <a:blip r:embed="rId3"/>
          <a:stretch>
            <a:fillRect/>
          </a:stretch>
        </p:blipFill>
        <p:spPr>
          <a:xfrm>
            <a:off x="11639550" y="0"/>
            <a:ext cx="2076450" cy="1028700"/>
          </a:xfrm>
          <a:prstGeom prst="rect">
            <a:avLst/>
          </a:prstGeom>
        </p:spPr>
      </p:pic>
      <p:sp>
        <p:nvSpPr>
          <p:cNvPr id="4" name="Eyebrow"/>
          <p:cNvSpPr txBox="1"/>
          <p:nvPr/>
        </p:nvSpPr>
        <p:spPr>
          <a:xfrm>
            <a:off x="714375" y="1504950"/>
            <a:ext cx="6286500" cy="247650"/>
          </a:xfrm>
          <a:prstGeom prst="rect">
            <a:avLst/>
          </a:prstGeom>
          <a:noFill/>
        </p:spPr>
        <p:txBody>
          <a:bodyPr wrap="square" lIns="0" tIns="0" rIns="0" bIns="0" anchor="t">
            <a:noAutofit/>
          </a:bodyPr>
          <a:lstStyle/>
          <a:p>
            <a:pPr algn="l">
              <a:lnSpc>
                <a:spcPct val="112000"/>
              </a:lnSpc>
            </a:pPr>
            <a:r>
              <a:rPr sz="1275" b="1" i="0">
                <a:solidFill>
                  <a:srgbClr val="8B5D52"/>
                </a:solidFill>
                <a:latin typeface="Times New Roman"/>
              </a:rPr>
              <a:t>PROBLEM STATEMENT · ELDER SAFETY</a:t>
            </a:r>
          </a:p>
        </p:txBody>
      </p:sp>
      <p:sp>
        <p:nvSpPr>
          <p:cNvPr id="5" name="Title"/>
          <p:cNvSpPr txBox="1"/>
          <p:nvPr/>
        </p:nvSpPr>
        <p:spPr>
          <a:xfrm>
            <a:off x="714375" y="1866900"/>
            <a:ext cx="6477000" cy="1238250"/>
          </a:xfrm>
          <a:prstGeom prst="rect">
            <a:avLst/>
          </a:prstGeom>
          <a:noFill/>
        </p:spPr>
        <p:txBody>
          <a:bodyPr wrap="square" lIns="0" tIns="0" rIns="0" bIns="0" anchor="t">
            <a:noAutofit/>
          </a:bodyPr>
          <a:lstStyle/>
          <a:p>
            <a:pPr algn="l">
              <a:lnSpc>
                <a:spcPct val="105000"/>
              </a:lnSpc>
            </a:pPr>
            <a:r>
              <a:rPr sz="3450" b="0" i="0">
                <a:solidFill>
                  <a:srgbClr val="3F342E"/>
                </a:solidFill>
                <a:latin typeface="Times New Roman"/>
              </a:rPr>
              <a:t>Keeping Elders Safe:</a:t>
            </a:r>
          </a:p>
          <a:p>
            <a:pPr algn="l">
              <a:lnSpc>
                <a:spcPct val="105000"/>
              </a:lnSpc>
            </a:pPr>
            <a:r>
              <a:rPr sz="3450" b="0" i="0">
                <a:solidFill>
                  <a:srgbClr val="3F342E"/>
                </a:solidFill>
                <a:latin typeface="Times New Roman"/>
              </a:rPr>
              <a:t>A Connected-Care Approach</a:t>
            </a:r>
          </a:p>
        </p:txBody>
      </p:sp>
      <p:sp>
        <p:nvSpPr>
          <p:cNvPr id="6" name="Body"/>
          <p:cNvSpPr txBox="1"/>
          <p:nvPr/>
        </p:nvSpPr>
        <p:spPr>
          <a:xfrm>
            <a:off x="714375" y="3352800"/>
            <a:ext cx="6286500" cy="2857500"/>
          </a:xfrm>
          <a:prstGeom prst="rect">
            <a:avLst/>
          </a:prstGeom>
          <a:noFill/>
        </p:spPr>
        <p:txBody>
          <a:bodyPr wrap="square" lIns="0" tIns="0" rIns="0" bIns="0" anchor="t">
            <a:noAutofit/>
          </a:bodyPr>
          <a:lstStyle/>
          <a:p>
            <a:pPr algn="l">
              <a:lnSpc>
                <a:spcPct val="125000"/>
              </a:lnSpc>
            </a:pPr>
            <a:r>
              <a:rPr sz="1800" b="0" i="0">
                <a:solidFill>
                  <a:srgbClr val="3F342E"/>
                </a:solidFill>
                <a:latin typeface="Times New Roman"/>
              </a:rPr>
              <a:t>Many older adults live apart from their families. Missed medicines, unnoticed changes in health and slow emergency response put them at risk, while family, doctors, pharmacies and hospitals each work from separate information. We built one connected platform where everyone in an elder's care circle sees the same live record and can act in time.</a:t>
            </a:r>
          </a:p>
        </p:txBody>
      </p:sp>
      <p:sp>
        <p:nvSpPr>
          <p:cNvPr id="7" name="Card"/>
          <p:cNvSpPr/>
          <p:nvPr/>
        </p:nvSpPr>
        <p:spPr>
          <a:xfrm>
            <a:off x="7600950" y="1676400"/>
            <a:ext cx="5676900" cy="2209800"/>
          </a:xfrm>
          <a:prstGeom prst="roundRect">
            <a:avLst>
              <a:gd name="adj" fmla="val 6034"/>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Label"/>
          <p:cNvSpPr txBox="1"/>
          <p:nvPr/>
        </p:nvSpPr>
        <p:spPr>
          <a:xfrm>
            <a:off x="7867650" y="1905000"/>
            <a:ext cx="5143500" cy="228600"/>
          </a:xfrm>
          <a:prstGeom prst="rect">
            <a:avLst/>
          </a:prstGeom>
          <a:noFill/>
        </p:spPr>
        <p:txBody>
          <a:bodyPr wrap="square" lIns="0" tIns="0" rIns="0" bIns="0" anchor="t">
            <a:noAutofit/>
          </a:bodyPr>
          <a:lstStyle/>
          <a:p>
            <a:pPr algn="l">
              <a:lnSpc>
                <a:spcPct val="112000"/>
              </a:lnSpc>
            </a:pPr>
            <a:r>
              <a:rPr sz="1275" b="1" i="0">
                <a:solidFill>
                  <a:srgbClr val="8B5D52"/>
                </a:solidFill>
                <a:latin typeface="Times New Roman"/>
              </a:rPr>
              <a:t>WHAT HAPPENS TODAY</a:t>
            </a:r>
          </a:p>
        </p:txBody>
      </p:sp>
      <p:sp>
        <p:nvSpPr>
          <p:cNvPr id="9" name="Today"/>
          <p:cNvSpPr txBox="1"/>
          <p:nvPr/>
        </p:nvSpPr>
        <p:spPr>
          <a:xfrm>
            <a:off x="7867650" y="2266950"/>
            <a:ext cx="5143500" cy="1428750"/>
          </a:xfrm>
          <a:prstGeom prst="rect">
            <a:avLst/>
          </a:prstGeom>
          <a:noFill/>
        </p:spPr>
        <p:txBody>
          <a:bodyPr wrap="square" lIns="0" tIns="0" rIns="0" bIns="0" anchor="t">
            <a:noAutofit/>
          </a:bodyPr>
          <a:lstStyle/>
          <a:p>
            <a:pPr algn="l">
              <a:lnSpc>
                <a:spcPct val="115000"/>
              </a:lnSpc>
            </a:pPr>
            <a:r>
              <a:rPr sz="1875" b="0" i="1">
                <a:solidFill>
                  <a:srgbClr val="3F342E"/>
                </a:solidFill>
                <a:latin typeface="Times New Roman"/>
              </a:rPr>
              <a:t>The 8:00 AM dose is missed. Blood pressure is not logged for days. A fall at night and no one knows.</a:t>
            </a:r>
          </a:p>
        </p:txBody>
      </p:sp>
      <p:sp>
        <p:nvSpPr>
          <p:cNvPr id="10" name="Card"/>
          <p:cNvSpPr/>
          <p:nvPr/>
        </p:nvSpPr>
        <p:spPr>
          <a:xfrm>
            <a:off x="7600950" y="4533900"/>
            <a:ext cx="5676900" cy="2495550"/>
          </a:xfrm>
          <a:prstGeom prst="roundRect">
            <a:avLst>
              <a:gd name="adj" fmla="val 5343"/>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Label"/>
          <p:cNvSpPr txBox="1"/>
          <p:nvPr/>
        </p:nvSpPr>
        <p:spPr>
          <a:xfrm>
            <a:off x="7867650" y="4762500"/>
            <a:ext cx="5143500" cy="228600"/>
          </a:xfrm>
          <a:prstGeom prst="rect">
            <a:avLst/>
          </a:prstGeom>
          <a:noFill/>
        </p:spPr>
        <p:txBody>
          <a:bodyPr wrap="square" lIns="0" tIns="0" rIns="0" bIns="0" anchor="t">
            <a:noAutofit/>
          </a:bodyPr>
          <a:lstStyle/>
          <a:p>
            <a:pPr algn="l">
              <a:lnSpc>
                <a:spcPct val="112000"/>
              </a:lnSpc>
            </a:pPr>
            <a:r>
              <a:rPr sz="1275" b="1" i="0">
                <a:solidFill>
                  <a:srgbClr val="FFFFFF"/>
                </a:solidFill>
                <a:latin typeface="Times New Roman"/>
              </a:rPr>
              <a:t>WHAT ELDERGUARD DOES</a:t>
            </a:r>
          </a:p>
        </p:txBody>
      </p:sp>
      <p:sp>
        <p:nvSpPr>
          <p:cNvPr id="12" name="ElderGuard does"/>
          <p:cNvSpPr txBox="1"/>
          <p:nvPr/>
        </p:nvSpPr>
        <p:spPr>
          <a:xfrm>
            <a:off x="7867650" y="5124450"/>
            <a:ext cx="5143500" cy="1809750"/>
          </a:xfrm>
          <a:prstGeom prst="rect">
            <a:avLst/>
          </a:prstGeom>
          <a:noFill/>
        </p:spPr>
        <p:txBody>
          <a:bodyPr wrap="square" lIns="0" tIns="0" rIns="0" bIns="0" anchor="t">
            <a:noAutofit/>
          </a:bodyPr>
          <a:lstStyle/>
          <a:p>
            <a:pPr algn="l">
              <a:lnSpc>
                <a:spcPct val="115000"/>
              </a:lnSpc>
            </a:pPr>
            <a:r>
              <a:rPr sz="1875" b="0" i="0">
                <a:solidFill>
                  <a:srgbClr val="FFFFFF"/>
                </a:solidFill>
                <a:latin typeface="Times New Roman"/>
              </a:rPr>
              <a:t>A reminder rings until it is answered, and the caregiver sees the dose logged live. One tap on SOS alerts family first, then a second contact, the hospital desk and emergency services if nobody responds.</a:t>
            </a:r>
          </a:p>
        </p:txBody>
      </p:sp>
      <p:sp>
        <p:nvSpPr>
          <p:cNvPr id="13" name="Oval 12"/>
          <p:cNvSpPr/>
          <p:nvPr/>
        </p:nvSpPr>
        <p:spPr>
          <a:xfrm>
            <a:off x="10172700" y="4000500"/>
            <a:ext cx="533400" cy="533400"/>
          </a:xfrm>
          <a:prstGeom prst="ellipse">
            <a:avLst/>
          </a:prstGeom>
          <a:solidFill>
            <a:srgbClr val="8B5D52"/>
          </a:solidFill>
          <a:ln>
            <a:solidFill>
              <a:srgbClr val="FFF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Icon arrow" descr="icon_ArrowDown_FFFFFF.png"/>
          <p:cNvPicPr>
            <a:picLocks noChangeAspect="1"/>
          </p:cNvPicPr>
          <p:nvPr/>
        </p:nvPicPr>
        <p:blipFill>
          <a:blip r:embed="rId4"/>
          <a:stretch>
            <a:fillRect/>
          </a:stretch>
        </p:blipFill>
        <p:spPr>
          <a:xfrm>
            <a:off x="10306050" y="4133850"/>
            <a:ext cx="266700" cy="2667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BFA"/>
        </a:solidFill>
        <a:effectLst/>
      </p:bgPr>
    </p:bg>
    <p:spTree>
      <p:nvGrpSpPr>
        <p:cNvPr id="1" name=""/>
        <p:cNvGrpSpPr/>
        <p:nvPr/>
      </p:nvGrpSpPr>
      <p:grpSpPr>
        <a:xfrm>
          <a:off x="0" y="0"/>
          <a:ext cx="0" cy="0"/>
          <a:chOff x="0" y="0"/>
          <a:chExt cx="0" cy="0"/>
        </a:xfrm>
      </p:grpSpPr>
      <p:pic>
        <p:nvPicPr>
          <p:cNvPr id="2" name="College crest" descr="crest.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png"/>
          <p:cNvPicPr>
            <a:picLocks noChangeAspect="1"/>
          </p:cNvPicPr>
          <p:nvPr/>
        </p:nvPicPr>
        <p:blipFill>
          <a:blip r:embed="rId3"/>
          <a:stretch>
            <a:fillRect/>
          </a:stretch>
        </p:blipFill>
        <p:spPr>
          <a:xfrm>
            <a:off x="11639550" y="0"/>
            <a:ext cx="2076450" cy="1028700"/>
          </a:xfrm>
          <a:prstGeom prst="rect">
            <a:avLst/>
          </a:prstGeom>
        </p:spPr>
      </p:pic>
      <p:sp>
        <p:nvSpPr>
          <p:cNvPr id="4" name="Title"/>
          <p:cNvSpPr txBox="1"/>
          <p:nvPr/>
        </p:nvSpPr>
        <p:spPr>
          <a:xfrm>
            <a:off x="733425" y="1009650"/>
            <a:ext cx="10858500" cy="1047750"/>
          </a:xfrm>
          <a:prstGeom prst="rect">
            <a:avLst/>
          </a:prstGeom>
          <a:noFill/>
        </p:spPr>
        <p:txBody>
          <a:bodyPr wrap="square" lIns="0" tIns="0" rIns="0" bIns="0" anchor="t">
            <a:noAutofit/>
          </a:bodyPr>
          <a:lstStyle/>
          <a:p>
            <a:pPr algn="l">
              <a:lnSpc>
                <a:spcPct val="100000"/>
              </a:lnSpc>
            </a:pPr>
            <a:r>
              <a:rPr sz="3150" b="0" i="0">
                <a:solidFill>
                  <a:srgbClr val="8B5D52"/>
                </a:solidFill>
                <a:latin typeface="Times New Roman"/>
              </a:rPr>
              <a:t>Understanding the Empathy</a:t>
            </a:r>
            <a:r>
              <a:rPr sz="3150" b="0" i="0">
                <a:solidFill>
                  <a:srgbClr val="3F342E"/>
                </a:solidFill>
                <a:latin typeface="Times New Roman"/>
              </a:rPr>
              <a:t> Phase: Connecting with Elders and Caregivers</a:t>
            </a:r>
          </a:p>
        </p:txBody>
      </p:sp>
      <p:sp>
        <p:nvSpPr>
          <p:cNvPr id="5" name="Research"/>
          <p:cNvSpPr txBox="1"/>
          <p:nvPr/>
        </p:nvSpPr>
        <p:spPr>
          <a:xfrm>
            <a:off x="733425" y="2266950"/>
            <a:ext cx="3619500" cy="2095500"/>
          </a:xfrm>
          <a:prstGeom prst="rect">
            <a:avLst/>
          </a:prstGeom>
          <a:noFill/>
        </p:spPr>
        <p:txBody>
          <a:bodyPr wrap="square" lIns="0" tIns="0" rIns="0" bIns="0" anchor="t">
            <a:noAutofit/>
          </a:bodyPr>
          <a:lstStyle/>
          <a:p>
            <a:pPr algn="l">
              <a:lnSpc>
                <a:spcPct val="112000"/>
              </a:lnSpc>
            </a:pPr>
            <a:r>
              <a:rPr sz="1650" b="1" i="0">
                <a:solidFill>
                  <a:srgbClr val="3F342E"/>
                </a:solidFill>
                <a:latin typeface="Times New Roman"/>
              </a:rPr>
              <a:t>Deep Elder &amp; Caregiver Research</a:t>
            </a:r>
          </a:p>
          <a:p>
            <a:pPr algn="l">
              <a:lnSpc>
                <a:spcPct val="112000"/>
              </a:lnSpc>
            </a:pPr>
            <a:r>
              <a:rPr sz="1650" b="0" i="0">
                <a:solidFill>
                  <a:srgbClr val="3F342E"/>
                </a:solidFill>
                <a:latin typeface="Times New Roman"/>
              </a:rPr>
              <a:t>Start with genuine curiosity about the lives of older adults and the family members who worry about them. Understand daily routines, fears of being alone and how comfortable they are with technology.</a:t>
            </a:r>
          </a:p>
        </p:txBody>
      </p:sp>
      <p:sp>
        <p:nvSpPr>
          <p:cNvPr id="6" name="Connections"/>
          <p:cNvSpPr txBox="1"/>
          <p:nvPr/>
        </p:nvSpPr>
        <p:spPr>
          <a:xfrm>
            <a:off x="4781550" y="2266950"/>
            <a:ext cx="3619500" cy="2095500"/>
          </a:xfrm>
          <a:prstGeom prst="rect">
            <a:avLst/>
          </a:prstGeom>
          <a:noFill/>
        </p:spPr>
        <p:txBody>
          <a:bodyPr wrap="square" lIns="0" tIns="0" rIns="0" bIns="0" anchor="t">
            <a:noAutofit/>
          </a:bodyPr>
          <a:lstStyle/>
          <a:p>
            <a:pPr algn="l">
              <a:lnSpc>
                <a:spcPct val="112000"/>
              </a:lnSpc>
            </a:pPr>
            <a:r>
              <a:rPr sz="1650" b="1" i="0">
                <a:solidFill>
                  <a:srgbClr val="3F342E"/>
                </a:solidFill>
                <a:latin typeface="Times New Roman"/>
              </a:rPr>
              <a:t>Building Emotional Connections</a:t>
            </a:r>
          </a:p>
          <a:p>
            <a:pPr algn="l">
              <a:lnSpc>
                <a:spcPct val="112000"/>
              </a:lnSpc>
            </a:pPr>
            <a:r>
              <a:rPr sz="1650" b="0" i="0">
                <a:solidFill>
                  <a:srgbClr val="3F342E"/>
                </a:solidFill>
                <a:latin typeface="Times New Roman"/>
              </a:rPr>
              <a:t>Go beyond demographics. What makes an elder hesitate to ask for help? What keeps a caregiver awake at night? What would make both feel in control?</a:t>
            </a:r>
          </a:p>
        </p:txBody>
      </p:sp>
      <p:sp>
        <p:nvSpPr>
          <p:cNvPr id="7" name="Methods 1"/>
          <p:cNvSpPr txBox="1"/>
          <p:nvPr/>
        </p:nvSpPr>
        <p:spPr>
          <a:xfrm>
            <a:off x="733425" y="5086350"/>
            <a:ext cx="3714750" cy="1428750"/>
          </a:xfrm>
          <a:prstGeom prst="rect">
            <a:avLst/>
          </a:prstGeom>
          <a:noFill/>
        </p:spPr>
        <p:txBody>
          <a:bodyPr wrap="square" lIns="0" tIns="0" rIns="0" bIns="0" anchor="t">
            <a:noAutofit/>
          </a:bodyPr>
          <a:lstStyle/>
          <a:p>
            <a:pPr marL="247650" indent="-247650" algn="l">
              <a:lnSpc>
                <a:spcPct val="112000"/>
              </a:lnSpc>
              <a:spcAft>
                <a:spcPts val="300"/>
              </a:spcAft>
              <a:buFont typeface="Arial"/>
              <a:buChar char="•"/>
            </a:pPr>
            <a:r>
              <a:rPr sz="1575" b="0" i="0">
                <a:solidFill>
                  <a:srgbClr val="3F342E"/>
                </a:solidFill>
                <a:latin typeface="Times New Roman"/>
              </a:rPr>
              <a:t>Interview elders and family caregivers</a:t>
            </a:r>
          </a:p>
          <a:p>
            <a:pPr marL="247650" indent="-247650" algn="l">
              <a:lnSpc>
                <a:spcPct val="112000"/>
              </a:lnSpc>
              <a:spcAft>
                <a:spcPts val="300"/>
              </a:spcAft>
              <a:buFont typeface="Arial"/>
              <a:buChar char="•"/>
            </a:pPr>
            <a:r>
              <a:rPr sz="1575" b="0" i="0">
                <a:solidFill>
                  <a:srgbClr val="3F342E"/>
                </a:solidFill>
                <a:latin typeface="Times New Roman"/>
              </a:rPr>
              <a:t>Observe medicine routines at home</a:t>
            </a:r>
          </a:p>
          <a:p>
            <a:pPr marL="247650" indent="-247650" algn="l">
              <a:lnSpc>
                <a:spcPct val="112000"/>
              </a:lnSpc>
              <a:spcAft>
                <a:spcPts val="300"/>
              </a:spcAft>
              <a:buFont typeface="Arial"/>
              <a:buChar char="•"/>
            </a:pPr>
            <a:r>
              <a:rPr sz="1575" b="0" i="0">
                <a:solidFill>
                  <a:srgbClr val="3F342E"/>
                </a:solidFill>
                <a:latin typeface="Times New Roman"/>
              </a:rPr>
              <a:t>Build empathy maps of feelings and needs</a:t>
            </a:r>
          </a:p>
        </p:txBody>
      </p:sp>
      <p:sp>
        <p:nvSpPr>
          <p:cNvPr id="8" name="Methods 2"/>
          <p:cNvSpPr txBox="1"/>
          <p:nvPr/>
        </p:nvSpPr>
        <p:spPr>
          <a:xfrm>
            <a:off x="4781550" y="5086350"/>
            <a:ext cx="3619500" cy="1428750"/>
          </a:xfrm>
          <a:prstGeom prst="rect">
            <a:avLst/>
          </a:prstGeom>
          <a:noFill/>
        </p:spPr>
        <p:txBody>
          <a:bodyPr wrap="square" lIns="0" tIns="0" rIns="0" bIns="0" anchor="t">
            <a:noAutofit/>
          </a:bodyPr>
          <a:lstStyle/>
          <a:p>
            <a:pPr marL="247650" indent="-247650" algn="l">
              <a:lnSpc>
                <a:spcPct val="112000"/>
              </a:lnSpc>
              <a:spcAft>
                <a:spcPts val="300"/>
              </a:spcAft>
              <a:buFont typeface="Arial"/>
              <a:buChar char="•"/>
            </a:pPr>
            <a:r>
              <a:rPr sz="1575" b="0" i="0">
                <a:solidFill>
                  <a:srgbClr val="3F342E"/>
                </a:solidFill>
                <a:latin typeface="Times New Roman"/>
              </a:rPr>
              <a:t>Medicine-routine diary studies</a:t>
            </a:r>
          </a:p>
          <a:p>
            <a:pPr marL="247650" indent="-247650" algn="l">
              <a:lnSpc>
                <a:spcPct val="112000"/>
              </a:lnSpc>
              <a:spcAft>
                <a:spcPts val="300"/>
              </a:spcAft>
              <a:buFont typeface="Arial"/>
              <a:buChar char="•"/>
            </a:pPr>
            <a:r>
              <a:rPr sz="1575" b="0" i="0">
                <a:solidFill>
                  <a:srgbClr val="3F342E"/>
                </a:solidFill>
                <a:latin typeface="Times New Roman"/>
              </a:rPr>
              <a:t>Contextual enquiry in homes and care centres</a:t>
            </a:r>
          </a:p>
          <a:p>
            <a:pPr marL="247650" indent="-247650" algn="l">
              <a:lnSpc>
                <a:spcPct val="112000"/>
              </a:lnSpc>
              <a:spcAft>
                <a:spcPts val="300"/>
              </a:spcAft>
              <a:buFont typeface="Arial"/>
              <a:buChar char="•"/>
            </a:pPr>
            <a:r>
              <a:rPr sz="1575" b="0" i="0">
                <a:solidFill>
                  <a:srgbClr val="3F342E"/>
                </a:solidFill>
                <a:latin typeface="Times New Roman"/>
              </a:rPr>
              <a:t>Journey mapping of an emergency</a:t>
            </a:r>
          </a:p>
        </p:txBody>
      </p:sp>
      <p:sp>
        <p:nvSpPr>
          <p:cNvPr id="9" name="Empathy SAYS"/>
          <p:cNvSpPr/>
          <p:nvPr/>
        </p:nvSpPr>
        <p:spPr>
          <a:xfrm>
            <a:off x="9096375" y="2209800"/>
            <a:ext cx="2162175" cy="2209800"/>
          </a:xfrm>
          <a:prstGeom prst="roundRect">
            <a:avLst>
              <a:gd name="adj" fmla="val 6167"/>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AYS label"/>
          <p:cNvSpPr txBox="1"/>
          <p:nvPr/>
        </p:nvSpPr>
        <p:spPr>
          <a:xfrm>
            <a:off x="9305925" y="2438400"/>
            <a:ext cx="1762125" cy="228600"/>
          </a:xfrm>
          <a:prstGeom prst="rect">
            <a:avLst/>
          </a:prstGeom>
          <a:noFill/>
        </p:spPr>
        <p:txBody>
          <a:bodyPr wrap="square" lIns="0" tIns="0" rIns="0" bIns="0" anchor="t">
            <a:noAutofit/>
          </a:bodyPr>
          <a:lstStyle/>
          <a:p>
            <a:pPr algn="l">
              <a:lnSpc>
                <a:spcPct val="112000"/>
              </a:lnSpc>
            </a:pPr>
            <a:r>
              <a:rPr sz="1350" b="1" i="0">
                <a:solidFill>
                  <a:srgbClr val="8B5D52"/>
                </a:solidFill>
                <a:latin typeface="Times New Roman"/>
              </a:rPr>
              <a:t>SAYS</a:t>
            </a:r>
          </a:p>
        </p:txBody>
      </p:sp>
      <p:sp>
        <p:nvSpPr>
          <p:cNvPr id="11" name="SAYS text"/>
          <p:cNvSpPr txBox="1"/>
          <p:nvPr/>
        </p:nvSpPr>
        <p:spPr>
          <a:xfrm>
            <a:off x="9305925" y="2800350"/>
            <a:ext cx="1762125" cy="1428750"/>
          </a:xfrm>
          <a:prstGeom prst="rect">
            <a:avLst/>
          </a:prstGeom>
          <a:noFill/>
        </p:spPr>
        <p:txBody>
          <a:bodyPr wrap="square" lIns="0" tIns="0" rIns="0" bIns="0" anchor="t">
            <a:noAutofit/>
          </a:bodyPr>
          <a:lstStyle/>
          <a:p>
            <a:pPr algn="l">
              <a:lnSpc>
                <a:spcPct val="112000"/>
              </a:lnSpc>
            </a:pPr>
            <a:r>
              <a:rPr sz="1650" b="0" i="0">
                <a:solidFill>
                  <a:srgbClr val="3F342E"/>
                </a:solidFill>
                <a:latin typeface="Times New Roman"/>
              </a:rPr>
              <a:t>"Did she take her tablets? Is she okay?"</a:t>
            </a:r>
          </a:p>
        </p:txBody>
      </p:sp>
      <p:sp>
        <p:nvSpPr>
          <p:cNvPr id="12" name="Empathy THINKS"/>
          <p:cNvSpPr/>
          <p:nvPr/>
        </p:nvSpPr>
        <p:spPr>
          <a:xfrm>
            <a:off x="11334750" y="2209800"/>
            <a:ext cx="2162175" cy="2209800"/>
          </a:xfrm>
          <a:prstGeom prst="roundRect">
            <a:avLst>
              <a:gd name="adj" fmla="val 6167"/>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HINKS label"/>
          <p:cNvSpPr txBox="1"/>
          <p:nvPr/>
        </p:nvSpPr>
        <p:spPr>
          <a:xfrm>
            <a:off x="11544300" y="2438400"/>
            <a:ext cx="1762125" cy="228600"/>
          </a:xfrm>
          <a:prstGeom prst="rect">
            <a:avLst/>
          </a:prstGeom>
          <a:noFill/>
        </p:spPr>
        <p:txBody>
          <a:bodyPr wrap="square" lIns="0" tIns="0" rIns="0" bIns="0" anchor="t">
            <a:noAutofit/>
          </a:bodyPr>
          <a:lstStyle/>
          <a:p>
            <a:pPr algn="l">
              <a:lnSpc>
                <a:spcPct val="112000"/>
              </a:lnSpc>
            </a:pPr>
            <a:r>
              <a:rPr sz="1350" b="1" i="0">
                <a:solidFill>
                  <a:srgbClr val="8B5D52"/>
                </a:solidFill>
                <a:latin typeface="Times New Roman"/>
              </a:rPr>
              <a:t>THINKS</a:t>
            </a:r>
          </a:p>
        </p:txBody>
      </p:sp>
      <p:sp>
        <p:nvSpPr>
          <p:cNvPr id="14" name="THINKS text"/>
          <p:cNvSpPr txBox="1"/>
          <p:nvPr/>
        </p:nvSpPr>
        <p:spPr>
          <a:xfrm>
            <a:off x="11544300" y="2800350"/>
            <a:ext cx="1762125" cy="1428750"/>
          </a:xfrm>
          <a:prstGeom prst="rect">
            <a:avLst/>
          </a:prstGeom>
          <a:noFill/>
        </p:spPr>
        <p:txBody>
          <a:bodyPr wrap="square" lIns="0" tIns="0" rIns="0" bIns="0" anchor="t">
            <a:noAutofit/>
          </a:bodyPr>
          <a:lstStyle/>
          <a:p>
            <a:pPr algn="l">
              <a:lnSpc>
                <a:spcPct val="112000"/>
              </a:lnSpc>
            </a:pPr>
            <a:r>
              <a:rPr sz="1650" b="0" i="0">
                <a:solidFill>
                  <a:srgbClr val="3F342E"/>
                </a:solidFill>
                <a:latin typeface="Times New Roman"/>
              </a:rPr>
              <a:t>"What if something happens and I am not there?"</a:t>
            </a:r>
          </a:p>
        </p:txBody>
      </p:sp>
      <p:sp>
        <p:nvSpPr>
          <p:cNvPr id="15" name="Empathy FEELS"/>
          <p:cNvSpPr/>
          <p:nvPr/>
        </p:nvSpPr>
        <p:spPr>
          <a:xfrm>
            <a:off x="9096375" y="4533900"/>
            <a:ext cx="2162175" cy="2209800"/>
          </a:xfrm>
          <a:prstGeom prst="roundRect">
            <a:avLst>
              <a:gd name="adj" fmla="val 6167"/>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EELS label"/>
          <p:cNvSpPr txBox="1"/>
          <p:nvPr/>
        </p:nvSpPr>
        <p:spPr>
          <a:xfrm>
            <a:off x="9305925" y="4762500"/>
            <a:ext cx="1762125" cy="228600"/>
          </a:xfrm>
          <a:prstGeom prst="rect">
            <a:avLst/>
          </a:prstGeom>
          <a:noFill/>
        </p:spPr>
        <p:txBody>
          <a:bodyPr wrap="square" lIns="0" tIns="0" rIns="0" bIns="0" anchor="t">
            <a:noAutofit/>
          </a:bodyPr>
          <a:lstStyle/>
          <a:p>
            <a:pPr algn="l">
              <a:lnSpc>
                <a:spcPct val="112000"/>
              </a:lnSpc>
            </a:pPr>
            <a:r>
              <a:rPr sz="1350" b="1" i="0">
                <a:solidFill>
                  <a:srgbClr val="8B5D52"/>
                </a:solidFill>
                <a:latin typeface="Times New Roman"/>
              </a:rPr>
              <a:t>FEELS</a:t>
            </a:r>
          </a:p>
        </p:txBody>
      </p:sp>
      <p:sp>
        <p:nvSpPr>
          <p:cNvPr id="17" name="FEELS text"/>
          <p:cNvSpPr txBox="1"/>
          <p:nvPr/>
        </p:nvSpPr>
        <p:spPr>
          <a:xfrm>
            <a:off x="9305925" y="5124450"/>
            <a:ext cx="1762125" cy="1428750"/>
          </a:xfrm>
          <a:prstGeom prst="rect">
            <a:avLst/>
          </a:prstGeom>
          <a:noFill/>
        </p:spPr>
        <p:txBody>
          <a:bodyPr wrap="square" lIns="0" tIns="0" rIns="0" bIns="0" anchor="t">
            <a:noAutofit/>
          </a:bodyPr>
          <a:lstStyle/>
          <a:p>
            <a:pPr algn="l">
              <a:lnSpc>
                <a:spcPct val="112000"/>
              </a:lnSpc>
            </a:pPr>
            <a:r>
              <a:rPr sz="1650" b="0" i="0">
                <a:solidFill>
                  <a:srgbClr val="3F342E"/>
                </a:solidFill>
                <a:latin typeface="Times New Roman"/>
              </a:rPr>
              <a:t>Anxious, guilty, always on call</a:t>
            </a:r>
          </a:p>
        </p:txBody>
      </p:sp>
      <p:sp>
        <p:nvSpPr>
          <p:cNvPr id="18" name="Empathy DOES"/>
          <p:cNvSpPr/>
          <p:nvPr/>
        </p:nvSpPr>
        <p:spPr>
          <a:xfrm>
            <a:off x="11334750" y="4533900"/>
            <a:ext cx="2162175" cy="2209800"/>
          </a:xfrm>
          <a:prstGeom prst="roundRect">
            <a:avLst>
              <a:gd name="adj" fmla="val 6167"/>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DOES label"/>
          <p:cNvSpPr txBox="1"/>
          <p:nvPr/>
        </p:nvSpPr>
        <p:spPr>
          <a:xfrm>
            <a:off x="11544300" y="4762500"/>
            <a:ext cx="1762125" cy="228600"/>
          </a:xfrm>
          <a:prstGeom prst="rect">
            <a:avLst/>
          </a:prstGeom>
          <a:noFill/>
        </p:spPr>
        <p:txBody>
          <a:bodyPr wrap="square" lIns="0" tIns="0" rIns="0" bIns="0" anchor="t">
            <a:noAutofit/>
          </a:bodyPr>
          <a:lstStyle/>
          <a:p>
            <a:pPr algn="l">
              <a:lnSpc>
                <a:spcPct val="112000"/>
              </a:lnSpc>
            </a:pPr>
            <a:r>
              <a:rPr sz="1350" b="1" i="0">
                <a:solidFill>
                  <a:srgbClr val="8B5D52"/>
                </a:solidFill>
                <a:latin typeface="Times New Roman"/>
              </a:rPr>
              <a:t>DOES</a:t>
            </a:r>
          </a:p>
        </p:txBody>
      </p:sp>
      <p:sp>
        <p:nvSpPr>
          <p:cNvPr id="20" name="DOES text"/>
          <p:cNvSpPr txBox="1"/>
          <p:nvPr/>
        </p:nvSpPr>
        <p:spPr>
          <a:xfrm>
            <a:off x="11544300" y="5124450"/>
            <a:ext cx="1762125" cy="1428750"/>
          </a:xfrm>
          <a:prstGeom prst="rect">
            <a:avLst/>
          </a:prstGeom>
          <a:noFill/>
        </p:spPr>
        <p:txBody>
          <a:bodyPr wrap="square" lIns="0" tIns="0" rIns="0" bIns="0" anchor="t">
            <a:noAutofit/>
          </a:bodyPr>
          <a:lstStyle/>
          <a:p>
            <a:pPr algn="l">
              <a:lnSpc>
                <a:spcPct val="112000"/>
              </a:lnSpc>
            </a:pPr>
            <a:r>
              <a:rPr sz="1650" b="0" i="0">
                <a:solidFill>
                  <a:srgbClr val="3F342E"/>
                </a:solidFill>
                <a:latin typeface="Times New Roman"/>
              </a:rPr>
              <a:t>Calls repeatedly, asks neighbours to check in</a:t>
            </a:r>
          </a:p>
        </p:txBody>
      </p:sp>
      <p:sp>
        <p:nvSpPr>
          <p:cNvPr id="21" name="Footer"/>
          <p:cNvSpPr txBox="1"/>
          <p:nvPr/>
        </p:nvSpPr>
        <p:spPr>
          <a:xfrm>
            <a:off x="733425" y="7200900"/>
            <a:ext cx="12611100" cy="476250"/>
          </a:xfrm>
          <a:prstGeom prst="rect">
            <a:avLst/>
          </a:prstGeom>
          <a:noFill/>
        </p:spPr>
        <p:txBody>
          <a:bodyPr wrap="square" lIns="0" tIns="0" rIns="0" bIns="0" anchor="t">
            <a:noAutofit/>
          </a:bodyPr>
          <a:lstStyle/>
          <a:p>
            <a:pPr algn="l">
              <a:lnSpc>
                <a:spcPct val="112000"/>
              </a:lnSpc>
            </a:pPr>
            <a:r>
              <a:rPr sz="1500" b="0" i="1">
                <a:solidFill>
                  <a:srgbClr val="8B5D52"/>
                </a:solidFill>
                <a:latin typeface="Times New Roman"/>
              </a:rPr>
              <a:t>Empathy map of a family caregiver. Illustrative persona; interviews with real elders and caregivers are planned.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BFA"/>
        </a:solidFill>
        <a:effectLst/>
      </p:bgPr>
    </p:bg>
    <p:spTree>
      <p:nvGrpSpPr>
        <p:cNvPr id="1" name=""/>
        <p:cNvGrpSpPr/>
        <p:nvPr/>
      </p:nvGrpSpPr>
      <p:grpSpPr>
        <a:xfrm>
          <a:off x="0" y="0"/>
          <a:ext cx="0" cy="0"/>
          <a:chOff x="0" y="0"/>
          <a:chExt cx="0" cy="0"/>
        </a:xfrm>
      </p:grpSpPr>
      <p:pic>
        <p:nvPicPr>
          <p:cNvPr id="2" name="College crest" descr="crest.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png"/>
          <p:cNvPicPr>
            <a:picLocks noChangeAspect="1"/>
          </p:cNvPicPr>
          <p:nvPr/>
        </p:nvPicPr>
        <p:blipFill>
          <a:blip r:embed="rId3"/>
          <a:stretch>
            <a:fillRect/>
          </a:stretch>
        </p:blipFill>
        <p:spPr>
          <a:xfrm>
            <a:off x="11639550" y="0"/>
            <a:ext cx="2076450" cy="1028700"/>
          </a:xfrm>
          <a:prstGeom prst="rect">
            <a:avLst/>
          </a:prstGeom>
        </p:spPr>
      </p:pic>
      <p:sp>
        <p:nvSpPr>
          <p:cNvPr id="4" name="Title"/>
          <p:cNvSpPr txBox="1"/>
          <p:nvPr/>
        </p:nvSpPr>
        <p:spPr>
          <a:xfrm>
            <a:off x="733425" y="1009650"/>
            <a:ext cx="10858500" cy="1047750"/>
          </a:xfrm>
          <a:prstGeom prst="rect">
            <a:avLst/>
          </a:prstGeom>
          <a:noFill/>
        </p:spPr>
        <p:txBody>
          <a:bodyPr wrap="square" lIns="0" tIns="0" rIns="0" bIns="0" anchor="t">
            <a:noAutofit/>
          </a:bodyPr>
          <a:lstStyle/>
          <a:p>
            <a:pPr algn="l">
              <a:lnSpc>
                <a:spcPct val="100000"/>
              </a:lnSpc>
            </a:pPr>
            <a:r>
              <a:rPr sz="3150" b="0" i="0">
                <a:solidFill>
                  <a:srgbClr val="8B5D52"/>
                </a:solidFill>
                <a:latin typeface="Times New Roman"/>
              </a:rPr>
              <a:t>Define</a:t>
            </a:r>
            <a:r>
              <a:rPr sz="3150" b="0" i="0">
                <a:solidFill>
                  <a:srgbClr val="3F342E"/>
                </a:solidFill>
                <a:latin typeface="Times New Roman"/>
              </a:rPr>
              <a:t> the Problem: Identifying Core Pain Points in Elder Care</a:t>
            </a:r>
          </a:p>
        </p:txBody>
      </p:sp>
      <p:sp>
        <p:nvSpPr>
          <p:cNvPr id="5" name="Missed Medicines"/>
          <p:cNvSpPr/>
          <p:nvPr/>
        </p:nvSpPr>
        <p:spPr>
          <a:xfrm>
            <a:off x="552450" y="2038350"/>
            <a:ext cx="6191250" cy="1619250"/>
          </a:xfrm>
          <a:prstGeom prst="roundRect">
            <a:avLst>
              <a:gd name="adj" fmla="val 8235"/>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19150" y="230505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Pill" descr="icon_Pill_FFFFFF.png"/>
          <p:cNvPicPr>
            <a:picLocks noChangeAspect="1"/>
          </p:cNvPicPr>
          <p:nvPr/>
        </p:nvPicPr>
        <p:blipFill>
          <a:blip r:embed="rId4"/>
          <a:stretch>
            <a:fillRect/>
          </a:stretch>
        </p:blipFill>
        <p:spPr>
          <a:xfrm>
            <a:off x="972693" y="2458593"/>
            <a:ext cx="283464" cy="283464"/>
          </a:xfrm>
          <a:prstGeom prst="rect">
            <a:avLst/>
          </a:prstGeom>
        </p:spPr>
      </p:pic>
      <p:sp>
        <p:nvSpPr>
          <p:cNvPr id="8" name="Missed Medicines title"/>
          <p:cNvSpPr txBox="1"/>
          <p:nvPr/>
        </p:nvSpPr>
        <p:spPr>
          <a:xfrm>
            <a:off x="1619250" y="2266950"/>
            <a:ext cx="4857750" cy="419100"/>
          </a:xfrm>
          <a:prstGeom prst="rect">
            <a:avLst/>
          </a:prstGeom>
          <a:noFill/>
        </p:spPr>
        <p:txBody>
          <a:bodyPr wrap="square" lIns="0" tIns="0" rIns="0" bIns="0" anchor="t">
            <a:noAutofit/>
          </a:bodyPr>
          <a:lstStyle/>
          <a:p>
            <a:pPr algn="l">
              <a:lnSpc>
                <a:spcPct val="112000"/>
              </a:lnSpc>
            </a:pPr>
            <a:r>
              <a:rPr sz="2325" b="0" i="0">
                <a:solidFill>
                  <a:srgbClr val="3F342E"/>
                </a:solidFill>
                <a:latin typeface="Times New Roman"/>
              </a:rPr>
              <a:t>Missed Medicines</a:t>
            </a:r>
          </a:p>
        </p:txBody>
      </p:sp>
      <p:sp>
        <p:nvSpPr>
          <p:cNvPr id="9" name="Missed Medicines text"/>
          <p:cNvSpPr txBox="1"/>
          <p:nvPr/>
        </p:nvSpPr>
        <p:spPr>
          <a:xfrm>
            <a:off x="1619250" y="2724150"/>
            <a:ext cx="4857750" cy="857250"/>
          </a:xfrm>
          <a:prstGeom prst="rect">
            <a:avLst/>
          </a:prstGeom>
          <a:noFill/>
        </p:spPr>
        <p:txBody>
          <a:bodyPr wrap="square" lIns="0" tIns="0" rIns="0" bIns="0" anchor="t">
            <a:noAutofit/>
          </a:bodyPr>
          <a:lstStyle/>
          <a:p>
            <a:pPr algn="l">
              <a:lnSpc>
                <a:spcPct val="112000"/>
              </a:lnSpc>
            </a:pPr>
            <a:r>
              <a:rPr sz="1650" b="0" i="0">
                <a:solidFill>
                  <a:srgbClr val="3F342E"/>
                </a:solidFill>
                <a:latin typeface="Times New Roman"/>
              </a:rPr>
              <a:t>Several daily medicines are easy to forget, and the family finds out late, if at all.</a:t>
            </a:r>
          </a:p>
        </p:txBody>
      </p:sp>
      <p:sp>
        <p:nvSpPr>
          <p:cNvPr id="10" name="Slow Emergency Response"/>
          <p:cNvSpPr/>
          <p:nvPr/>
        </p:nvSpPr>
        <p:spPr>
          <a:xfrm>
            <a:off x="6972300" y="2038350"/>
            <a:ext cx="6191250" cy="1619250"/>
          </a:xfrm>
          <a:prstGeom prst="roundRect">
            <a:avLst>
              <a:gd name="adj" fmla="val 8235"/>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239000" y="230505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con Siren" descr="icon_Siren_FFFFFF.png"/>
          <p:cNvPicPr>
            <a:picLocks noChangeAspect="1"/>
          </p:cNvPicPr>
          <p:nvPr/>
        </p:nvPicPr>
        <p:blipFill>
          <a:blip r:embed="rId5"/>
          <a:stretch>
            <a:fillRect/>
          </a:stretch>
        </p:blipFill>
        <p:spPr>
          <a:xfrm>
            <a:off x="7392543" y="2458593"/>
            <a:ext cx="283464" cy="283464"/>
          </a:xfrm>
          <a:prstGeom prst="rect">
            <a:avLst/>
          </a:prstGeom>
        </p:spPr>
      </p:pic>
      <p:sp>
        <p:nvSpPr>
          <p:cNvPr id="13" name="Slow Emergency Response title"/>
          <p:cNvSpPr txBox="1"/>
          <p:nvPr/>
        </p:nvSpPr>
        <p:spPr>
          <a:xfrm>
            <a:off x="8039100" y="2266950"/>
            <a:ext cx="4857750" cy="419100"/>
          </a:xfrm>
          <a:prstGeom prst="rect">
            <a:avLst/>
          </a:prstGeom>
          <a:noFill/>
        </p:spPr>
        <p:txBody>
          <a:bodyPr wrap="square" lIns="0" tIns="0" rIns="0" bIns="0" anchor="t">
            <a:noAutofit/>
          </a:bodyPr>
          <a:lstStyle/>
          <a:p>
            <a:pPr algn="l">
              <a:lnSpc>
                <a:spcPct val="112000"/>
              </a:lnSpc>
            </a:pPr>
            <a:r>
              <a:rPr sz="2325" b="0" i="0">
                <a:solidFill>
                  <a:srgbClr val="3F342E"/>
                </a:solidFill>
                <a:latin typeface="Times New Roman"/>
              </a:rPr>
              <a:t>Slow Emergency Response</a:t>
            </a:r>
          </a:p>
        </p:txBody>
      </p:sp>
      <p:sp>
        <p:nvSpPr>
          <p:cNvPr id="14" name="Slow Emergency Response text"/>
          <p:cNvSpPr txBox="1"/>
          <p:nvPr/>
        </p:nvSpPr>
        <p:spPr>
          <a:xfrm>
            <a:off x="8039100" y="2724150"/>
            <a:ext cx="4857750" cy="857250"/>
          </a:xfrm>
          <a:prstGeom prst="rect">
            <a:avLst/>
          </a:prstGeom>
          <a:noFill/>
        </p:spPr>
        <p:txBody>
          <a:bodyPr wrap="square" lIns="0" tIns="0" rIns="0" bIns="0" anchor="t">
            <a:noAutofit/>
          </a:bodyPr>
          <a:lstStyle/>
          <a:p>
            <a:pPr algn="l">
              <a:lnSpc>
                <a:spcPct val="112000"/>
              </a:lnSpc>
            </a:pPr>
            <a:r>
              <a:rPr sz="1650" b="0" i="0">
                <a:solidFill>
                  <a:srgbClr val="3F342E"/>
                </a:solidFill>
                <a:latin typeface="Times New Roman"/>
              </a:rPr>
              <a:t>A fall or sudden illness can go unnoticed. Help depends on someone happening to call.</a:t>
            </a:r>
          </a:p>
        </p:txBody>
      </p:sp>
      <p:sp>
        <p:nvSpPr>
          <p:cNvPr id="15" name="Disconnected Information"/>
          <p:cNvSpPr/>
          <p:nvPr/>
        </p:nvSpPr>
        <p:spPr>
          <a:xfrm>
            <a:off x="552450" y="3886200"/>
            <a:ext cx="6191250" cy="1619250"/>
          </a:xfrm>
          <a:prstGeom prst="roundRect">
            <a:avLst>
              <a:gd name="adj" fmla="val 8235"/>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19150" y="415290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Icon Link" descr="icon_Link_FFFFFF.png"/>
          <p:cNvPicPr>
            <a:picLocks noChangeAspect="1"/>
          </p:cNvPicPr>
          <p:nvPr/>
        </p:nvPicPr>
        <p:blipFill>
          <a:blip r:embed="rId6"/>
          <a:stretch>
            <a:fillRect/>
          </a:stretch>
        </p:blipFill>
        <p:spPr>
          <a:xfrm>
            <a:off x="972693" y="4306443"/>
            <a:ext cx="283464" cy="283464"/>
          </a:xfrm>
          <a:prstGeom prst="rect">
            <a:avLst/>
          </a:prstGeom>
        </p:spPr>
      </p:pic>
      <p:sp>
        <p:nvSpPr>
          <p:cNvPr id="18" name="Disconnected Information title"/>
          <p:cNvSpPr txBox="1"/>
          <p:nvPr/>
        </p:nvSpPr>
        <p:spPr>
          <a:xfrm>
            <a:off x="1619250" y="4114800"/>
            <a:ext cx="4857750" cy="419100"/>
          </a:xfrm>
          <a:prstGeom prst="rect">
            <a:avLst/>
          </a:prstGeom>
          <a:noFill/>
        </p:spPr>
        <p:txBody>
          <a:bodyPr wrap="square" lIns="0" tIns="0" rIns="0" bIns="0" anchor="t">
            <a:noAutofit/>
          </a:bodyPr>
          <a:lstStyle/>
          <a:p>
            <a:pPr algn="l">
              <a:lnSpc>
                <a:spcPct val="112000"/>
              </a:lnSpc>
            </a:pPr>
            <a:r>
              <a:rPr sz="2325" b="0" i="0">
                <a:solidFill>
                  <a:srgbClr val="3F342E"/>
                </a:solidFill>
                <a:latin typeface="Times New Roman"/>
              </a:rPr>
              <a:t>Disconnected Information</a:t>
            </a:r>
          </a:p>
        </p:txBody>
      </p:sp>
      <p:sp>
        <p:nvSpPr>
          <p:cNvPr id="19" name="Disconnected Information text"/>
          <p:cNvSpPr txBox="1"/>
          <p:nvPr/>
        </p:nvSpPr>
        <p:spPr>
          <a:xfrm>
            <a:off x="1619250" y="4572000"/>
            <a:ext cx="4857750" cy="857250"/>
          </a:xfrm>
          <a:prstGeom prst="rect">
            <a:avLst/>
          </a:prstGeom>
          <a:noFill/>
        </p:spPr>
        <p:txBody>
          <a:bodyPr wrap="square" lIns="0" tIns="0" rIns="0" bIns="0" anchor="t">
            <a:noAutofit/>
          </a:bodyPr>
          <a:lstStyle/>
          <a:p>
            <a:pPr algn="l">
              <a:lnSpc>
                <a:spcPct val="112000"/>
              </a:lnSpc>
            </a:pPr>
            <a:r>
              <a:rPr sz="1650" b="0" i="0">
                <a:solidFill>
                  <a:srgbClr val="3F342E"/>
                </a:solidFill>
                <a:latin typeface="Times New Roman"/>
              </a:rPr>
              <a:t>Family, doctor, pharmacy and hospital each hold a piece, so prescriptions, vitals and history are not shared.</a:t>
            </a:r>
          </a:p>
        </p:txBody>
      </p:sp>
      <p:sp>
        <p:nvSpPr>
          <p:cNvPr id="20" name="Hard-to-Use Technology"/>
          <p:cNvSpPr/>
          <p:nvPr/>
        </p:nvSpPr>
        <p:spPr>
          <a:xfrm>
            <a:off x="6972300" y="3886200"/>
            <a:ext cx="6191250" cy="1619250"/>
          </a:xfrm>
          <a:prstGeom prst="roundRect">
            <a:avLst>
              <a:gd name="adj" fmla="val 8235"/>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239000" y="415290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Icon DeviceMobile" descr="icon_DeviceMobile_FFFFFF.png"/>
          <p:cNvPicPr>
            <a:picLocks noChangeAspect="1"/>
          </p:cNvPicPr>
          <p:nvPr/>
        </p:nvPicPr>
        <p:blipFill>
          <a:blip r:embed="rId7"/>
          <a:stretch>
            <a:fillRect/>
          </a:stretch>
        </p:blipFill>
        <p:spPr>
          <a:xfrm>
            <a:off x="7392543" y="4306443"/>
            <a:ext cx="283464" cy="283464"/>
          </a:xfrm>
          <a:prstGeom prst="rect">
            <a:avLst/>
          </a:prstGeom>
        </p:spPr>
      </p:pic>
      <p:sp>
        <p:nvSpPr>
          <p:cNvPr id="23" name="Hard-to-Use Technology title"/>
          <p:cNvSpPr txBox="1"/>
          <p:nvPr/>
        </p:nvSpPr>
        <p:spPr>
          <a:xfrm>
            <a:off x="8039100" y="4114800"/>
            <a:ext cx="4857750" cy="419100"/>
          </a:xfrm>
          <a:prstGeom prst="rect">
            <a:avLst/>
          </a:prstGeom>
          <a:noFill/>
        </p:spPr>
        <p:txBody>
          <a:bodyPr wrap="square" lIns="0" tIns="0" rIns="0" bIns="0" anchor="t">
            <a:noAutofit/>
          </a:bodyPr>
          <a:lstStyle/>
          <a:p>
            <a:pPr algn="l">
              <a:lnSpc>
                <a:spcPct val="112000"/>
              </a:lnSpc>
            </a:pPr>
            <a:r>
              <a:rPr sz="2325" b="0" i="0">
                <a:solidFill>
                  <a:srgbClr val="3F342E"/>
                </a:solidFill>
                <a:latin typeface="Times New Roman"/>
              </a:rPr>
              <a:t>Hard-to-Use Technology</a:t>
            </a:r>
          </a:p>
        </p:txBody>
      </p:sp>
      <p:sp>
        <p:nvSpPr>
          <p:cNvPr id="24" name="Hard-to-Use Technology text"/>
          <p:cNvSpPr txBox="1"/>
          <p:nvPr/>
        </p:nvSpPr>
        <p:spPr>
          <a:xfrm>
            <a:off x="8039100" y="4572000"/>
            <a:ext cx="4857750" cy="857250"/>
          </a:xfrm>
          <a:prstGeom prst="rect">
            <a:avLst/>
          </a:prstGeom>
          <a:noFill/>
        </p:spPr>
        <p:txBody>
          <a:bodyPr wrap="square" lIns="0" tIns="0" rIns="0" bIns="0" anchor="t">
            <a:noAutofit/>
          </a:bodyPr>
          <a:lstStyle/>
          <a:p>
            <a:pPr algn="l">
              <a:lnSpc>
                <a:spcPct val="112000"/>
              </a:lnSpc>
            </a:pPr>
            <a:r>
              <a:rPr sz="1650" b="0" i="0">
                <a:solidFill>
                  <a:srgbClr val="3F342E"/>
                </a:solidFill>
                <a:latin typeface="Times New Roman"/>
              </a:rPr>
              <a:t>Small text, crowded screens and complex steps leave out the people who need help most.</a:t>
            </a:r>
          </a:p>
        </p:txBody>
      </p:sp>
      <p:sp>
        <p:nvSpPr>
          <p:cNvPr id="25" name="Problem statement"/>
          <p:cNvSpPr/>
          <p:nvPr/>
        </p:nvSpPr>
        <p:spPr>
          <a:xfrm>
            <a:off x="552450" y="6305550"/>
            <a:ext cx="12611100" cy="1066800"/>
          </a:xfrm>
          <a:prstGeom prst="roundRect">
            <a:avLst>
              <a:gd name="adj" fmla="val 12500"/>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ynthesis"/>
          <p:cNvSpPr txBox="1"/>
          <p:nvPr/>
        </p:nvSpPr>
        <p:spPr>
          <a:xfrm>
            <a:off x="838200" y="6457950"/>
            <a:ext cx="12039600" cy="800100"/>
          </a:xfrm>
          <a:prstGeom prst="rect">
            <a:avLst/>
          </a:prstGeom>
          <a:noFill/>
        </p:spPr>
        <p:txBody>
          <a:bodyPr wrap="square" lIns="0" tIns="0" rIns="0" bIns="0" anchor="ctr">
            <a:noAutofit/>
          </a:bodyPr>
          <a:lstStyle/>
          <a:p>
            <a:pPr algn="l">
              <a:lnSpc>
                <a:spcPct val="115000"/>
              </a:lnSpc>
            </a:pPr>
            <a:r>
              <a:rPr sz="1800" b="0" i="0">
                <a:solidFill>
                  <a:srgbClr val="FFFFFF"/>
                </a:solidFill>
                <a:latin typeface="Times New Roman"/>
              </a:rPr>
              <a:t>The problem statement emerges from synthesis: "Elders and their families need a simple, connected way to take medicines on time, share health information and get help fast, so older adults can live independently with confidence."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BFA"/>
        </a:solidFill>
        <a:effectLst/>
      </p:bgPr>
    </p:bg>
    <p:spTree>
      <p:nvGrpSpPr>
        <p:cNvPr id="1" name=""/>
        <p:cNvGrpSpPr/>
        <p:nvPr/>
      </p:nvGrpSpPr>
      <p:grpSpPr>
        <a:xfrm>
          <a:off x="0" y="0"/>
          <a:ext cx="0" cy="0"/>
          <a:chOff x="0" y="0"/>
          <a:chExt cx="0" cy="0"/>
        </a:xfrm>
      </p:grpSpPr>
      <p:pic>
        <p:nvPicPr>
          <p:cNvPr id="2" name="College crest" descr="crest.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png"/>
          <p:cNvPicPr>
            <a:picLocks noChangeAspect="1"/>
          </p:cNvPicPr>
          <p:nvPr/>
        </p:nvPicPr>
        <p:blipFill>
          <a:blip r:embed="rId3"/>
          <a:stretch>
            <a:fillRect/>
          </a:stretch>
        </p:blipFill>
        <p:spPr>
          <a:xfrm>
            <a:off x="11639550" y="0"/>
            <a:ext cx="2076450" cy="1028700"/>
          </a:xfrm>
          <a:prstGeom prst="rect">
            <a:avLst/>
          </a:prstGeom>
        </p:spPr>
      </p:pic>
      <p:sp>
        <p:nvSpPr>
          <p:cNvPr id="4" name="Title"/>
          <p:cNvSpPr txBox="1"/>
          <p:nvPr/>
        </p:nvSpPr>
        <p:spPr>
          <a:xfrm>
            <a:off x="733425" y="1009650"/>
            <a:ext cx="10858500" cy="1047750"/>
          </a:xfrm>
          <a:prstGeom prst="rect">
            <a:avLst/>
          </a:prstGeom>
          <a:noFill/>
        </p:spPr>
        <p:txBody>
          <a:bodyPr wrap="square" lIns="0" tIns="0" rIns="0" bIns="0" anchor="t">
            <a:noAutofit/>
          </a:bodyPr>
          <a:lstStyle/>
          <a:p>
            <a:pPr algn="l">
              <a:lnSpc>
                <a:spcPct val="100000"/>
              </a:lnSpc>
            </a:pPr>
            <a:r>
              <a:rPr sz="3150" b="0" i="0">
                <a:solidFill>
                  <a:srgbClr val="8B5D52"/>
                </a:solidFill>
                <a:latin typeface="Times New Roman"/>
              </a:rPr>
              <a:t>Ideate</a:t>
            </a:r>
            <a:r>
              <a:rPr sz="3150" b="0" i="0">
                <a:solidFill>
                  <a:srgbClr val="3F342E"/>
                </a:solidFill>
                <a:latin typeface="Times New Roman"/>
              </a:rPr>
              <a:t> Creative Solutions: Brainstorming Elder Care Features</a:t>
            </a:r>
          </a:p>
        </p:txBody>
      </p:sp>
      <p:sp>
        <p:nvSpPr>
          <p:cNvPr id="5" name="Reminders That Get Answered"/>
          <p:cNvSpPr/>
          <p:nvPr/>
        </p:nvSpPr>
        <p:spPr>
          <a:xfrm>
            <a:off x="552450" y="2038350"/>
            <a:ext cx="4050982" cy="2571750"/>
          </a:xfrm>
          <a:prstGeom prst="roundRect">
            <a:avLst>
              <a:gd name="adj" fmla="val 5185"/>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19150" y="228600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Pill" descr="icon_Pill_FFFFFF.png"/>
          <p:cNvPicPr>
            <a:picLocks noChangeAspect="1"/>
          </p:cNvPicPr>
          <p:nvPr/>
        </p:nvPicPr>
        <p:blipFill>
          <a:blip r:embed="rId4"/>
          <a:stretch>
            <a:fillRect/>
          </a:stretch>
        </p:blipFill>
        <p:spPr>
          <a:xfrm>
            <a:off x="972693" y="2439543"/>
            <a:ext cx="283464" cy="283464"/>
          </a:xfrm>
          <a:prstGeom prst="rect">
            <a:avLst/>
          </a:prstGeom>
        </p:spPr>
      </p:pic>
      <p:sp>
        <p:nvSpPr>
          <p:cNvPr id="8" name="Reminders That Get Answered title"/>
          <p:cNvSpPr txBox="1"/>
          <p:nvPr/>
        </p:nvSpPr>
        <p:spPr>
          <a:xfrm>
            <a:off x="819150" y="3028950"/>
            <a:ext cx="3543300" cy="381000"/>
          </a:xfrm>
          <a:prstGeom prst="rect">
            <a:avLst/>
          </a:prstGeom>
          <a:noFill/>
        </p:spPr>
        <p:txBody>
          <a:bodyPr wrap="square" lIns="0" tIns="0" rIns="0" bIns="0" anchor="t">
            <a:noAutofit/>
          </a:bodyPr>
          <a:lstStyle/>
          <a:p>
            <a:pPr algn="l">
              <a:lnSpc>
                <a:spcPct val="112000"/>
              </a:lnSpc>
            </a:pPr>
            <a:r>
              <a:rPr sz="2100" b="0" i="0">
                <a:solidFill>
                  <a:srgbClr val="3F342E"/>
                </a:solidFill>
                <a:latin typeface="Times New Roman"/>
              </a:rPr>
              <a:t>Reminders That Get Answered</a:t>
            </a:r>
          </a:p>
        </p:txBody>
      </p:sp>
      <p:sp>
        <p:nvSpPr>
          <p:cNvPr id="9" name="Reminders That Get Answered text"/>
          <p:cNvSpPr txBox="1"/>
          <p:nvPr/>
        </p:nvSpPr>
        <p:spPr>
          <a:xfrm>
            <a:off x="819150" y="3467100"/>
            <a:ext cx="3543300" cy="104775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One gentle alarm per dose time. A tap logs the dose, and repeated misses alert the caregiver.</a:t>
            </a:r>
          </a:p>
        </p:txBody>
      </p:sp>
      <p:sp>
        <p:nvSpPr>
          <p:cNvPr id="10" name="One-Tap SOS with Escalation"/>
          <p:cNvSpPr/>
          <p:nvPr/>
        </p:nvSpPr>
        <p:spPr>
          <a:xfrm>
            <a:off x="4832032" y="2038350"/>
            <a:ext cx="4050982" cy="2571750"/>
          </a:xfrm>
          <a:prstGeom prst="roundRect">
            <a:avLst>
              <a:gd name="adj" fmla="val 5185"/>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98732" y="228600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con Siren" descr="icon_Siren_FFFFFF.png"/>
          <p:cNvPicPr>
            <a:picLocks noChangeAspect="1"/>
          </p:cNvPicPr>
          <p:nvPr/>
        </p:nvPicPr>
        <p:blipFill>
          <a:blip r:embed="rId5"/>
          <a:stretch>
            <a:fillRect/>
          </a:stretch>
        </p:blipFill>
        <p:spPr>
          <a:xfrm>
            <a:off x="5252276" y="2439543"/>
            <a:ext cx="283464" cy="283464"/>
          </a:xfrm>
          <a:prstGeom prst="rect">
            <a:avLst/>
          </a:prstGeom>
        </p:spPr>
      </p:pic>
      <p:sp>
        <p:nvSpPr>
          <p:cNvPr id="13" name="One-Tap SOS with Escalation title"/>
          <p:cNvSpPr txBox="1"/>
          <p:nvPr/>
        </p:nvSpPr>
        <p:spPr>
          <a:xfrm>
            <a:off x="5098732" y="3028950"/>
            <a:ext cx="3543300" cy="381000"/>
          </a:xfrm>
          <a:prstGeom prst="rect">
            <a:avLst/>
          </a:prstGeom>
          <a:noFill/>
        </p:spPr>
        <p:txBody>
          <a:bodyPr wrap="square" lIns="0" tIns="0" rIns="0" bIns="0" anchor="t">
            <a:noAutofit/>
          </a:bodyPr>
          <a:lstStyle/>
          <a:p>
            <a:pPr algn="l">
              <a:lnSpc>
                <a:spcPct val="112000"/>
              </a:lnSpc>
            </a:pPr>
            <a:r>
              <a:rPr sz="2100" b="0" i="0">
                <a:solidFill>
                  <a:srgbClr val="3F342E"/>
                </a:solidFill>
                <a:latin typeface="Times New Roman"/>
              </a:rPr>
              <a:t>One-Tap SOS with Escalation</a:t>
            </a:r>
          </a:p>
        </p:txBody>
      </p:sp>
      <p:sp>
        <p:nvSpPr>
          <p:cNvPr id="14" name="One-Tap SOS with Escalation text"/>
          <p:cNvSpPr txBox="1"/>
          <p:nvPr/>
        </p:nvSpPr>
        <p:spPr>
          <a:xfrm>
            <a:off x="5098732" y="3467100"/>
            <a:ext cx="3543300" cy="104775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Family first, then a second contact, the hospital desk and emergency services on a timer.</a:t>
            </a:r>
          </a:p>
        </p:txBody>
      </p:sp>
      <p:sp>
        <p:nvSpPr>
          <p:cNvPr id="15" name="Vitals and AI Companion"/>
          <p:cNvSpPr/>
          <p:nvPr/>
        </p:nvSpPr>
        <p:spPr>
          <a:xfrm>
            <a:off x="9111615" y="2038350"/>
            <a:ext cx="4050982" cy="2571750"/>
          </a:xfrm>
          <a:prstGeom prst="roundRect">
            <a:avLst>
              <a:gd name="adj" fmla="val 5185"/>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378315" y="228600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Icon Robot" descr="icon_Robot_FFFFFF.png"/>
          <p:cNvPicPr>
            <a:picLocks noChangeAspect="1"/>
          </p:cNvPicPr>
          <p:nvPr/>
        </p:nvPicPr>
        <p:blipFill>
          <a:blip r:embed="rId6"/>
          <a:stretch>
            <a:fillRect/>
          </a:stretch>
        </p:blipFill>
        <p:spPr>
          <a:xfrm>
            <a:off x="9531858" y="2439543"/>
            <a:ext cx="283464" cy="283464"/>
          </a:xfrm>
          <a:prstGeom prst="rect">
            <a:avLst/>
          </a:prstGeom>
        </p:spPr>
      </p:pic>
      <p:sp>
        <p:nvSpPr>
          <p:cNvPr id="18" name="Vitals and AI Companion title"/>
          <p:cNvSpPr txBox="1"/>
          <p:nvPr/>
        </p:nvSpPr>
        <p:spPr>
          <a:xfrm>
            <a:off x="9378315" y="3028950"/>
            <a:ext cx="3543300" cy="381000"/>
          </a:xfrm>
          <a:prstGeom prst="rect">
            <a:avLst/>
          </a:prstGeom>
          <a:noFill/>
        </p:spPr>
        <p:txBody>
          <a:bodyPr wrap="square" lIns="0" tIns="0" rIns="0" bIns="0" anchor="t">
            <a:noAutofit/>
          </a:bodyPr>
          <a:lstStyle/>
          <a:p>
            <a:pPr algn="l">
              <a:lnSpc>
                <a:spcPct val="112000"/>
              </a:lnSpc>
            </a:pPr>
            <a:r>
              <a:rPr sz="2100" b="0" i="0">
                <a:solidFill>
                  <a:srgbClr val="3F342E"/>
                </a:solidFill>
                <a:latin typeface="Times New Roman"/>
              </a:rPr>
              <a:t>Vitals and AI Companion</a:t>
            </a:r>
          </a:p>
        </p:txBody>
      </p:sp>
      <p:sp>
        <p:nvSpPr>
          <p:cNvPr id="19" name="Vitals and AI Companion text"/>
          <p:cNvSpPr txBox="1"/>
          <p:nvPr/>
        </p:nvSpPr>
        <p:spPr>
          <a:xfrm>
            <a:off x="9378315" y="3467100"/>
            <a:ext cx="3543300" cy="104775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Track blood pressure, sugar, oxygen and heart rate, and chat with Mevi, a patient AI companion.</a:t>
            </a:r>
          </a:p>
        </p:txBody>
      </p:sp>
      <p:sp>
        <p:nvSpPr>
          <p:cNvPr id="20" name="More ideas heading"/>
          <p:cNvSpPr txBox="1"/>
          <p:nvPr/>
        </p:nvSpPr>
        <p:spPr>
          <a:xfrm>
            <a:off x="552450" y="5219700"/>
            <a:ext cx="7620000" cy="342900"/>
          </a:xfrm>
          <a:prstGeom prst="rect">
            <a:avLst/>
          </a:prstGeom>
          <a:noFill/>
        </p:spPr>
        <p:txBody>
          <a:bodyPr wrap="square" lIns="0" tIns="0" rIns="0" bIns="0" anchor="t">
            <a:noAutofit/>
          </a:bodyPr>
          <a:lstStyle/>
          <a:p>
            <a:pPr algn="l">
              <a:lnSpc>
                <a:spcPct val="112000"/>
              </a:lnSpc>
            </a:pPr>
            <a:r>
              <a:rPr sz="2100" b="0" i="0">
                <a:solidFill>
                  <a:srgbClr val="8B5D52"/>
                </a:solidFill>
                <a:latin typeface="Times New Roman"/>
              </a:rPr>
              <a:t>More ideas from the brainstorm</a:t>
            </a:r>
          </a:p>
        </p:txBody>
      </p:sp>
      <p:sp>
        <p:nvSpPr>
          <p:cNvPr id="21" name="More ideas 1"/>
          <p:cNvSpPr txBox="1"/>
          <p:nvPr/>
        </p:nvSpPr>
        <p:spPr>
          <a:xfrm>
            <a:off x="552450" y="5676900"/>
            <a:ext cx="6096000" cy="952500"/>
          </a:xfrm>
          <a:prstGeom prst="rect">
            <a:avLst/>
          </a:prstGeom>
          <a:noFill/>
        </p:spPr>
        <p:txBody>
          <a:bodyPr wrap="square" lIns="0" tIns="0" rIns="0" bIns="0" anchor="t">
            <a:noAutofit/>
          </a:bodyPr>
          <a:lstStyle/>
          <a:p>
            <a:pPr marL="247650" indent="-247650" algn="l">
              <a:lnSpc>
                <a:spcPct val="112000"/>
              </a:lnSpc>
              <a:spcAft>
                <a:spcPts val="400"/>
              </a:spcAft>
              <a:buFont typeface="Arial"/>
              <a:buChar char="•"/>
            </a:pPr>
            <a:r>
              <a:rPr sz="1650" b="0" i="0">
                <a:solidFill>
                  <a:srgbClr val="3F342E"/>
                </a:solidFill>
                <a:latin typeface="Times New Roman"/>
              </a:rPr>
              <a:t>Prescription scanner that turns a photo into a medicine schedule</a:t>
            </a:r>
          </a:p>
          <a:p>
            <a:pPr marL="247650" indent="-247650" algn="l">
              <a:lnSpc>
                <a:spcPct val="112000"/>
              </a:lnSpc>
              <a:spcAft>
                <a:spcPts val="400"/>
              </a:spcAft>
              <a:buFont typeface="Arial"/>
              <a:buChar char="•"/>
            </a:pPr>
            <a:r>
              <a:rPr sz="1650" b="0" i="0">
                <a:solidFill>
                  <a:srgbClr val="3F342E"/>
                </a:solidFill>
                <a:latin typeface="Times New Roman"/>
              </a:rPr>
              <a:t>Doctor appointments with queue tokens</a:t>
            </a:r>
          </a:p>
        </p:txBody>
      </p:sp>
      <p:sp>
        <p:nvSpPr>
          <p:cNvPr id="22" name="More ideas 2"/>
          <p:cNvSpPr txBox="1"/>
          <p:nvPr/>
        </p:nvSpPr>
        <p:spPr>
          <a:xfrm>
            <a:off x="6858000" y="5676900"/>
            <a:ext cx="6286500" cy="952500"/>
          </a:xfrm>
          <a:prstGeom prst="rect">
            <a:avLst/>
          </a:prstGeom>
          <a:noFill/>
        </p:spPr>
        <p:txBody>
          <a:bodyPr wrap="square" lIns="0" tIns="0" rIns="0" bIns="0" anchor="t">
            <a:noAutofit/>
          </a:bodyPr>
          <a:lstStyle/>
          <a:p>
            <a:pPr marL="247650" indent="-247650" algn="l">
              <a:lnSpc>
                <a:spcPct val="112000"/>
              </a:lnSpc>
              <a:spcAft>
                <a:spcPts val="400"/>
              </a:spcAft>
              <a:buFont typeface="Arial"/>
              <a:buChar char="•"/>
            </a:pPr>
            <a:r>
              <a:rPr sz="1650" b="0" i="0">
                <a:solidFill>
                  <a:srgbClr val="3F342E"/>
                </a:solidFill>
                <a:latin typeface="Times New Roman"/>
              </a:rPr>
              <a:t>Doctor-to-pharmacy e-prescriptions</a:t>
            </a:r>
          </a:p>
          <a:p>
            <a:pPr marL="247650" indent="-247650" algn="l">
              <a:lnSpc>
                <a:spcPct val="112000"/>
              </a:lnSpc>
              <a:spcAft>
                <a:spcPts val="400"/>
              </a:spcAft>
              <a:buFont typeface="Arial"/>
              <a:buChar char="•"/>
            </a:pPr>
            <a:r>
              <a:rPr sz="1650" b="0" i="0">
                <a:solidFill>
                  <a:srgbClr val="3F342E"/>
                </a:solidFill>
                <a:latin typeface="Times New Roman"/>
              </a:rPr>
              <a:t>Five role-based portals with a large-text mode</a:t>
            </a:r>
          </a:p>
        </p:txBody>
      </p:sp>
      <p:sp>
        <p:nvSpPr>
          <p:cNvPr id="23" name="Footer"/>
          <p:cNvSpPr txBox="1"/>
          <p:nvPr/>
        </p:nvSpPr>
        <p:spPr>
          <a:xfrm>
            <a:off x="552450" y="7181850"/>
            <a:ext cx="12611100" cy="476250"/>
          </a:xfrm>
          <a:prstGeom prst="rect">
            <a:avLst/>
          </a:prstGeom>
          <a:noFill/>
        </p:spPr>
        <p:txBody>
          <a:bodyPr wrap="square" lIns="0" tIns="0" rIns="0" bIns="0" anchor="t">
            <a:noAutofit/>
          </a:bodyPr>
          <a:lstStyle/>
          <a:p>
            <a:pPr algn="l">
              <a:lnSpc>
                <a:spcPct val="112000"/>
              </a:lnSpc>
            </a:pPr>
            <a:r>
              <a:rPr sz="1500" b="0" i="1">
                <a:solidFill>
                  <a:srgbClr val="8B5D52"/>
                </a:solidFill>
                <a:latin typeface="Times New Roman"/>
              </a:rPr>
              <a:t>Innovation thrives when we encourage wild ideas, defer judgement and build on each other's concepts. Generate quantity first, then refine for safety and quality.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BFA"/>
        </a:solidFill>
        <a:effectLst/>
      </p:bgPr>
    </p:bg>
    <p:spTree>
      <p:nvGrpSpPr>
        <p:cNvPr id="1" name=""/>
        <p:cNvGrpSpPr/>
        <p:nvPr/>
      </p:nvGrpSpPr>
      <p:grpSpPr>
        <a:xfrm>
          <a:off x="0" y="0"/>
          <a:ext cx="0" cy="0"/>
          <a:chOff x="0" y="0"/>
          <a:chExt cx="0" cy="0"/>
        </a:xfrm>
      </p:grpSpPr>
      <p:pic>
        <p:nvPicPr>
          <p:cNvPr id="2" name="College crest" descr="crest.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png"/>
          <p:cNvPicPr>
            <a:picLocks noChangeAspect="1"/>
          </p:cNvPicPr>
          <p:nvPr/>
        </p:nvPicPr>
        <p:blipFill>
          <a:blip r:embed="rId3"/>
          <a:stretch>
            <a:fillRect/>
          </a:stretch>
        </p:blipFill>
        <p:spPr>
          <a:xfrm>
            <a:off x="11639550" y="0"/>
            <a:ext cx="2076450" cy="1028700"/>
          </a:xfrm>
          <a:prstGeom prst="rect">
            <a:avLst/>
          </a:prstGeom>
        </p:spPr>
      </p:pic>
      <p:sp>
        <p:nvSpPr>
          <p:cNvPr id="4" name="Title"/>
          <p:cNvSpPr txBox="1"/>
          <p:nvPr/>
        </p:nvSpPr>
        <p:spPr>
          <a:xfrm>
            <a:off x="733425" y="1009650"/>
            <a:ext cx="10858500" cy="1047750"/>
          </a:xfrm>
          <a:prstGeom prst="rect">
            <a:avLst/>
          </a:prstGeom>
          <a:noFill/>
        </p:spPr>
        <p:txBody>
          <a:bodyPr wrap="square" lIns="0" tIns="0" rIns="0" bIns="0" anchor="t">
            <a:noAutofit/>
          </a:bodyPr>
          <a:lstStyle/>
          <a:p>
            <a:pPr algn="l">
              <a:lnSpc>
                <a:spcPct val="100000"/>
              </a:lnSpc>
            </a:pPr>
            <a:r>
              <a:rPr sz="3150" b="0" i="0">
                <a:solidFill>
                  <a:srgbClr val="8B5D52"/>
                </a:solidFill>
                <a:latin typeface="Times New Roman"/>
              </a:rPr>
              <a:t>Proposed Solution:</a:t>
            </a:r>
            <a:r>
              <a:rPr sz="3150" b="0" i="0">
                <a:solidFill>
                  <a:srgbClr val="3F342E"/>
                </a:solidFill>
                <a:latin typeface="Times New Roman"/>
              </a:rPr>
              <a:t> How ElderGuard Works End to End</a:t>
            </a:r>
          </a:p>
        </p:txBody>
      </p:sp>
      <p:sp>
        <p:nvSpPr>
          <p:cNvPr id="5" name="1. Capture"/>
          <p:cNvSpPr/>
          <p:nvPr/>
        </p:nvSpPr>
        <p:spPr>
          <a:xfrm>
            <a:off x="552450" y="2038350"/>
            <a:ext cx="2209800" cy="2933700"/>
          </a:xfrm>
          <a:prstGeom prst="roundRect">
            <a:avLst>
              <a:gd name="adj" fmla="val 6034"/>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362075" y="226695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Pill" descr="icon_Pill_FFFFFF.png"/>
          <p:cNvPicPr>
            <a:picLocks noChangeAspect="1"/>
          </p:cNvPicPr>
          <p:nvPr/>
        </p:nvPicPr>
        <p:blipFill>
          <a:blip r:embed="rId4"/>
          <a:stretch>
            <a:fillRect/>
          </a:stretch>
        </p:blipFill>
        <p:spPr>
          <a:xfrm>
            <a:off x="1515618" y="2420493"/>
            <a:ext cx="283464" cy="283464"/>
          </a:xfrm>
          <a:prstGeom prst="rect">
            <a:avLst/>
          </a:prstGeom>
        </p:spPr>
      </p:pic>
      <p:sp>
        <p:nvSpPr>
          <p:cNvPr id="8" name="1. Capture title"/>
          <p:cNvSpPr txBox="1"/>
          <p:nvPr/>
        </p:nvSpPr>
        <p:spPr>
          <a:xfrm>
            <a:off x="647700" y="3009900"/>
            <a:ext cx="2019300" cy="381000"/>
          </a:xfrm>
          <a:prstGeom prst="rect">
            <a:avLst/>
          </a:prstGeom>
          <a:noFill/>
        </p:spPr>
        <p:txBody>
          <a:bodyPr wrap="square" lIns="0" tIns="0" rIns="0" bIns="0" anchor="t">
            <a:noAutofit/>
          </a:bodyPr>
          <a:lstStyle/>
          <a:p>
            <a:pPr algn="ctr">
              <a:lnSpc>
                <a:spcPct val="112000"/>
              </a:lnSpc>
            </a:pPr>
            <a:r>
              <a:rPr sz="2250" b="0" i="0">
                <a:solidFill>
                  <a:srgbClr val="3F342E"/>
                </a:solidFill>
                <a:latin typeface="Times New Roman"/>
              </a:rPr>
              <a:t>1. Capture</a:t>
            </a:r>
          </a:p>
        </p:txBody>
      </p:sp>
      <p:sp>
        <p:nvSpPr>
          <p:cNvPr id="9" name="1. Capture text"/>
          <p:cNvSpPr txBox="1"/>
          <p:nvPr/>
        </p:nvSpPr>
        <p:spPr>
          <a:xfrm>
            <a:off x="723900" y="3486150"/>
            <a:ext cx="1866900" cy="1333500"/>
          </a:xfrm>
          <a:prstGeom prst="rect">
            <a:avLst/>
          </a:prstGeom>
          <a:noFill/>
        </p:spPr>
        <p:txBody>
          <a:bodyPr wrap="square" lIns="0" tIns="0" rIns="0" bIns="0" anchor="t">
            <a:noAutofit/>
          </a:bodyPr>
          <a:lstStyle/>
          <a:p>
            <a:pPr algn="ctr">
              <a:lnSpc>
                <a:spcPct val="112000"/>
              </a:lnSpc>
            </a:pPr>
            <a:r>
              <a:rPr sz="1425" b="0" i="0">
                <a:solidFill>
                  <a:srgbClr val="3F342E"/>
                </a:solidFill>
                <a:latin typeface="Times New Roman"/>
              </a:rPr>
              <a:t>Elders log medicines and vitals; doctors write prescriptions</a:t>
            </a:r>
          </a:p>
        </p:txBody>
      </p:sp>
      <p:pic>
        <p:nvPicPr>
          <p:cNvPr id="10" name="Arrow" descr="icon_CaretRight_8B5D52.png"/>
          <p:cNvPicPr>
            <a:picLocks noChangeAspect="1"/>
          </p:cNvPicPr>
          <p:nvPr/>
        </p:nvPicPr>
        <p:blipFill>
          <a:blip r:embed="rId5"/>
          <a:stretch>
            <a:fillRect/>
          </a:stretch>
        </p:blipFill>
        <p:spPr>
          <a:xfrm>
            <a:off x="2838450" y="3371850"/>
            <a:ext cx="247650" cy="247650"/>
          </a:xfrm>
          <a:prstGeom prst="rect">
            <a:avLst/>
          </a:prstGeom>
        </p:spPr>
      </p:pic>
      <p:sp>
        <p:nvSpPr>
          <p:cNvPr id="11" name="2. Connect"/>
          <p:cNvSpPr/>
          <p:nvPr/>
        </p:nvSpPr>
        <p:spPr>
          <a:xfrm>
            <a:off x="3162300" y="2038350"/>
            <a:ext cx="2209800" cy="2933700"/>
          </a:xfrm>
          <a:prstGeom prst="roundRect">
            <a:avLst>
              <a:gd name="adj" fmla="val 6034"/>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971925" y="226695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Icon Link" descr="icon_Link_FFFFFF.png"/>
          <p:cNvPicPr>
            <a:picLocks noChangeAspect="1"/>
          </p:cNvPicPr>
          <p:nvPr/>
        </p:nvPicPr>
        <p:blipFill>
          <a:blip r:embed="rId6"/>
          <a:stretch>
            <a:fillRect/>
          </a:stretch>
        </p:blipFill>
        <p:spPr>
          <a:xfrm>
            <a:off x="4125468" y="2420493"/>
            <a:ext cx="283464" cy="283464"/>
          </a:xfrm>
          <a:prstGeom prst="rect">
            <a:avLst/>
          </a:prstGeom>
        </p:spPr>
      </p:pic>
      <p:sp>
        <p:nvSpPr>
          <p:cNvPr id="14" name="2. Connect title"/>
          <p:cNvSpPr txBox="1"/>
          <p:nvPr/>
        </p:nvSpPr>
        <p:spPr>
          <a:xfrm>
            <a:off x="3257550" y="3009900"/>
            <a:ext cx="2019300" cy="381000"/>
          </a:xfrm>
          <a:prstGeom prst="rect">
            <a:avLst/>
          </a:prstGeom>
          <a:noFill/>
        </p:spPr>
        <p:txBody>
          <a:bodyPr wrap="square" lIns="0" tIns="0" rIns="0" bIns="0" anchor="t">
            <a:noAutofit/>
          </a:bodyPr>
          <a:lstStyle/>
          <a:p>
            <a:pPr algn="ctr">
              <a:lnSpc>
                <a:spcPct val="112000"/>
              </a:lnSpc>
            </a:pPr>
            <a:r>
              <a:rPr sz="2250" b="0" i="0">
                <a:solidFill>
                  <a:srgbClr val="3F342E"/>
                </a:solidFill>
                <a:latin typeface="Times New Roman"/>
              </a:rPr>
              <a:t>2. Connect</a:t>
            </a:r>
          </a:p>
        </p:txBody>
      </p:sp>
      <p:sp>
        <p:nvSpPr>
          <p:cNvPr id="15" name="2. Connect text"/>
          <p:cNvSpPr txBox="1"/>
          <p:nvPr/>
        </p:nvSpPr>
        <p:spPr>
          <a:xfrm>
            <a:off x="3333750" y="3486150"/>
            <a:ext cx="1866900" cy="1333500"/>
          </a:xfrm>
          <a:prstGeom prst="rect">
            <a:avLst/>
          </a:prstGeom>
          <a:noFill/>
        </p:spPr>
        <p:txBody>
          <a:bodyPr wrap="square" lIns="0" tIns="0" rIns="0" bIns="0" anchor="t">
            <a:noAutofit/>
          </a:bodyPr>
          <a:lstStyle/>
          <a:p>
            <a:pPr algn="ctr">
              <a:lnSpc>
                <a:spcPct val="112000"/>
              </a:lnSpc>
            </a:pPr>
            <a:r>
              <a:rPr sz="1425" b="0" i="0">
                <a:solidFill>
                  <a:srgbClr val="3F342E"/>
                </a:solidFill>
                <a:latin typeface="Times New Roman"/>
              </a:rPr>
              <a:t>One shared record links elder, caregiver, doctor, pharmacy and hospital</a:t>
            </a:r>
          </a:p>
        </p:txBody>
      </p:sp>
      <p:pic>
        <p:nvPicPr>
          <p:cNvPr id="16" name="Arrow" descr="icon_CaretRight_8B5D52.png"/>
          <p:cNvPicPr>
            <a:picLocks noChangeAspect="1"/>
          </p:cNvPicPr>
          <p:nvPr/>
        </p:nvPicPr>
        <p:blipFill>
          <a:blip r:embed="rId5"/>
          <a:stretch>
            <a:fillRect/>
          </a:stretch>
        </p:blipFill>
        <p:spPr>
          <a:xfrm>
            <a:off x="5448300" y="3371850"/>
            <a:ext cx="247650" cy="247650"/>
          </a:xfrm>
          <a:prstGeom prst="rect">
            <a:avLst/>
          </a:prstGeom>
        </p:spPr>
      </p:pic>
      <p:sp>
        <p:nvSpPr>
          <p:cNvPr id="17" name="3. Alert"/>
          <p:cNvSpPr/>
          <p:nvPr/>
        </p:nvSpPr>
        <p:spPr>
          <a:xfrm>
            <a:off x="5772150" y="2038350"/>
            <a:ext cx="2209800" cy="2933700"/>
          </a:xfrm>
          <a:prstGeom prst="roundRect">
            <a:avLst>
              <a:gd name="adj" fmla="val 6034"/>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581775" y="226695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Icon Bell" descr="icon_Bell_FFFFFF.png"/>
          <p:cNvPicPr>
            <a:picLocks noChangeAspect="1"/>
          </p:cNvPicPr>
          <p:nvPr/>
        </p:nvPicPr>
        <p:blipFill>
          <a:blip r:embed="rId7"/>
          <a:stretch>
            <a:fillRect/>
          </a:stretch>
        </p:blipFill>
        <p:spPr>
          <a:xfrm>
            <a:off x="6735318" y="2420493"/>
            <a:ext cx="283464" cy="283464"/>
          </a:xfrm>
          <a:prstGeom prst="rect">
            <a:avLst/>
          </a:prstGeom>
        </p:spPr>
      </p:pic>
      <p:sp>
        <p:nvSpPr>
          <p:cNvPr id="20" name="3. Alert title"/>
          <p:cNvSpPr txBox="1"/>
          <p:nvPr/>
        </p:nvSpPr>
        <p:spPr>
          <a:xfrm>
            <a:off x="5867400" y="3009900"/>
            <a:ext cx="2019300" cy="381000"/>
          </a:xfrm>
          <a:prstGeom prst="rect">
            <a:avLst/>
          </a:prstGeom>
          <a:noFill/>
        </p:spPr>
        <p:txBody>
          <a:bodyPr wrap="square" lIns="0" tIns="0" rIns="0" bIns="0" anchor="t">
            <a:noAutofit/>
          </a:bodyPr>
          <a:lstStyle/>
          <a:p>
            <a:pPr algn="ctr">
              <a:lnSpc>
                <a:spcPct val="112000"/>
              </a:lnSpc>
            </a:pPr>
            <a:r>
              <a:rPr sz="2250" b="0" i="0">
                <a:solidFill>
                  <a:srgbClr val="3F342E"/>
                </a:solidFill>
                <a:latin typeface="Times New Roman"/>
              </a:rPr>
              <a:t>3. Alert</a:t>
            </a:r>
          </a:p>
        </p:txBody>
      </p:sp>
      <p:sp>
        <p:nvSpPr>
          <p:cNvPr id="21" name="3. Alert text"/>
          <p:cNvSpPr txBox="1"/>
          <p:nvPr/>
        </p:nvSpPr>
        <p:spPr>
          <a:xfrm>
            <a:off x="5943600" y="3486150"/>
            <a:ext cx="1866900" cy="1333500"/>
          </a:xfrm>
          <a:prstGeom prst="rect">
            <a:avLst/>
          </a:prstGeom>
          <a:noFill/>
        </p:spPr>
        <p:txBody>
          <a:bodyPr wrap="square" lIns="0" tIns="0" rIns="0" bIns="0" anchor="t">
            <a:noAutofit/>
          </a:bodyPr>
          <a:lstStyle/>
          <a:p>
            <a:pPr algn="ctr">
              <a:lnSpc>
                <a:spcPct val="112000"/>
              </a:lnSpc>
            </a:pPr>
            <a:r>
              <a:rPr sz="1425" b="0" i="0">
                <a:solidFill>
                  <a:srgbClr val="3F342E"/>
                </a:solidFill>
                <a:latin typeface="Times New Roman"/>
              </a:rPr>
              <a:t>Reminders ring, unusual readings are flagged, SOS goes out in one tap</a:t>
            </a:r>
          </a:p>
        </p:txBody>
      </p:sp>
      <p:pic>
        <p:nvPicPr>
          <p:cNvPr id="22" name="Arrow" descr="icon_CaretRight_8B5D52.png"/>
          <p:cNvPicPr>
            <a:picLocks noChangeAspect="1"/>
          </p:cNvPicPr>
          <p:nvPr/>
        </p:nvPicPr>
        <p:blipFill>
          <a:blip r:embed="rId5"/>
          <a:stretch>
            <a:fillRect/>
          </a:stretch>
        </p:blipFill>
        <p:spPr>
          <a:xfrm>
            <a:off x="8058150" y="3371850"/>
            <a:ext cx="247650" cy="247650"/>
          </a:xfrm>
          <a:prstGeom prst="rect">
            <a:avLst/>
          </a:prstGeom>
        </p:spPr>
      </p:pic>
      <p:sp>
        <p:nvSpPr>
          <p:cNvPr id="23" name="4. Escalate"/>
          <p:cNvSpPr/>
          <p:nvPr/>
        </p:nvSpPr>
        <p:spPr>
          <a:xfrm>
            <a:off x="8382000" y="2038350"/>
            <a:ext cx="2209800" cy="2933700"/>
          </a:xfrm>
          <a:prstGeom prst="roundRect">
            <a:avLst>
              <a:gd name="adj" fmla="val 6034"/>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191625" y="226695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Icon Siren" descr="icon_Siren_FFFFFF.png"/>
          <p:cNvPicPr>
            <a:picLocks noChangeAspect="1"/>
          </p:cNvPicPr>
          <p:nvPr/>
        </p:nvPicPr>
        <p:blipFill>
          <a:blip r:embed="rId8"/>
          <a:stretch>
            <a:fillRect/>
          </a:stretch>
        </p:blipFill>
        <p:spPr>
          <a:xfrm>
            <a:off x="9345168" y="2420493"/>
            <a:ext cx="283464" cy="283464"/>
          </a:xfrm>
          <a:prstGeom prst="rect">
            <a:avLst/>
          </a:prstGeom>
        </p:spPr>
      </p:pic>
      <p:sp>
        <p:nvSpPr>
          <p:cNvPr id="26" name="4. Escalate title"/>
          <p:cNvSpPr txBox="1"/>
          <p:nvPr/>
        </p:nvSpPr>
        <p:spPr>
          <a:xfrm>
            <a:off x="8477250" y="3009900"/>
            <a:ext cx="2019300" cy="381000"/>
          </a:xfrm>
          <a:prstGeom prst="rect">
            <a:avLst/>
          </a:prstGeom>
          <a:noFill/>
        </p:spPr>
        <p:txBody>
          <a:bodyPr wrap="square" lIns="0" tIns="0" rIns="0" bIns="0" anchor="t">
            <a:noAutofit/>
          </a:bodyPr>
          <a:lstStyle/>
          <a:p>
            <a:pPr algn="ctr">
              <a:lnSpc>
                <a:spcPct val="112000"/>
              </a:lnSpc>
            </a:pPr>
            <a:r>
              <a:rPr sz="2250" b="0" i="0">
                <a:solidFill>
                  <a:srgbClr val="3F342E"/>
                </a:solidFill>
                <a:latin typeface="Times New Roman"/>
              </a:rPr>
              <a:t>4. Escalate</a:t>
            </a:r>
          </a:p>
        </p:txBody>
      </p:sp>
      <p:sp>
        <p:nvSpPr>
          <p:cNvPr id="27" name="4. Escalate text"/>
          <p:cNvSpPr txBox="1"/>
          <p:nvPr/>
        </p:nvSpPr>
        <p:spPr>
          <a:xfrm>
            <a:off x="8553450" y="3486150"/>
            <a:ext cx="1866900" cy="1333500"/>
          </a:xfrm>
          <a:prstGeom prst="rect">
            <a:avLst/>
          </a:prstGeom>
          <a:noFill/>
        </p:spPr>
        <p:txBody>
          <a:bodyPr wrap="square" lIns="0" tIns="0" rIns="0" bIns="0" anchor="t">
            <a:noAutofit/>
          </a:bodyPr>
          <a:lstStyle/>
          <a:p>
            <a:pPr algn="ctr">
              <a:lnSpc>
                <a:spcPct val="112000"/>
              </a:lnSpc>
            </a:pPr>
            <a:r>
              <a:rPr sz="1425" b="0" i="0">
                <a:solidFill>
                  <a:srgbClr val="3F342E"/>
                </a:solidFill>
                <a:latin typeface="Times New Roman"/>
              </a:rPr>
              <a:t>Caregiver now, second contact at 2 min, hospital at 5, emergency services at 10</a:t>
            </a:r>
          </a:p>
        </p:txBody>
      </p:sp>
      <p:pic>
        <p:nvPicPr>
          <p:cNvPr id="28" name="Arrow" descr="icon_CaretRight_8B5D52.png"/>
          <p:cNvPicPr>
            <a:picLocks noChangeAspect="1"/>
          </p:cNvPicPr>
          <p:nvPr/>
        </p:nvPicPr>
        <p:blipFill>
          <a:blip r:embed="rId5"/>
          <a:stretch>
            <a:fillRect/>
          </a:stretch>
        </p:blipFill>
        <p:spPr>
          <a:xfrm>
            <a:off x="10668000" y="3371850"/>
            <a:ext cx="247650" cy="247650"/>
          </a:xfrm>
          <a:prstGeom prst="rect">
            <a:avLst/>
          </a:prstGeom>
        </p:spPr>
      </p:pic>
      <p:sp>
        <p:nvSpPr>
          <p:cNvPr id="29" name="5. Review"/>
          <p:cNvSpPr/>
          <p:nvPr/>
        </p:nvSpPr>
        <p:spPr>
          <a:xfrm>
            <a:off x="10991850" y="2038350"/>
            <a:ext cx="2209800" cy="2933700"/>
          </a:xfrm>
          <a:prstGeom prst="roundRect">
            <a:avLst>
              <a:gd name="adj" fmla="val 6034"/>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1801475" y="226695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Icon ArrowsClockwise" descr="icon_ArrowsClockwise_FFFFFF.png"/>
          <p:cNvPicPr>
            <a:picLocks noChangeAspect="1"/>
          </p:cNvPicPr>
          <p:nvPr/>
        </p:nvPicPr>
        <p:blipFill>
          <a:blip r:embed="rId9"/>
          <a:stretch>
            <a:fillRect/>
          </a:stretch>
        </p:blipFill>
        <p:spPr>
          <a:xfrm>
            <a:off x="11955018" y="2420493"/>
            <a:ext cx="283464" cy="283464"/>
          </a:xfrm>
          <a:prstGeom prst="rect">
            <a:avLst/>
          </a:prstGeom>
        </p:spPr>
      </p:pic>
      <p:sp>
        <p:nvSpPr>
          <p:cNvPr id="32" name="5. Review title"/>
          <p:cNvSpPr txBox="1"/>
          <p:nvPr/>
        </p:nvSpPr>
        <p:spPr>
          <a:xfrm>
            <a:off x="11087100" y="3009900"/>
            <a:ext cx="2019300" cy="381000"/>
          </a:xfrm>
          <a:prstGeom prst="rect">
            <a:avLst/>
          </a:prstGeom>
          <a:noFill/>
        </p:spPr>
        <p:txBody>
          <a:bodyPr wrap="square" lIns="0" tIns="0" rIns="0" bIns="0" anchor="t">
            <a:noAutofit/>
          </a:bodyPr>
          <a:lstStyle/>
          <a:p>
            <a:pPr algn="ctr">
              <a:lnSpc>
                <a:spcPct val="112000"/>
              </a:lnSpc>
            </a:pPr>
            <a:r>
              <a:rPr sz="2250" b="0" i="0">
                <a:solidFill>
                  <a:srgbClr val="3F342E"/>
                </a:solidFill>
                <a:latin typeface="Times New Roman"/>
              </a:rPr>
              <a:t>5. Review</a:t>
            </a:r>
          </a:p>
        </p:txBody>
      </p:sp>
      <p:sp>
        <p:nvSpPr>
          <p:cNvPr id="33" name="5. Review text"/>
          <p:cNvSpPr txBox="1"/>
          <p:nvPr/>
        </p:nvSpPr>
        <p:spPr>
          <a:xfrm>
            <a:off x="11163300" y="3486150"/>
            <a:ext cx="1866900" cy="1333500"/>
          </a:xfrm>
          <a:prstGeom prst="rect">
            <a:avLst/>
          </a:prstGeom>
          <a:noFill/>
        </p:spPr>
        <p:txBody>
          <a:bodyPr wrap="square" lIns="0" tIns="0" rIns="0" bIns="0" anchor="t">
            <a:noAutofit/>
          </a:bodyPr>
          <a:lstStyle/>
          <a:p>
            <a:pPr algn="ctr">
              <a:lnSpc>
                <a:spcPct val="112000"/>
              </a:lnSpc>
            </a:pPr>
            <a:r>
              <a:rPr sz="1425" b="0" i="0">
                <a:solidFill>
                  <a:srgbClr val="3F342E"/>
                </a:solidFill>
                <a:latin typeface="Times New Roman"/>
              </a:rPr>
              <a:t>History and records let family and doctors act on what happened</a:t>
            </a:r>
          </a:p>
        </p:txBody>
      </p:sp>
      <p:sp>
        <p:nvSpPr>
          <p:cNvPr id="34" name="Safety guardrails"/>
          <p:cNvSpPr/>
          <p:nvPr/>
        </p:nvSpPr>
        <p:spPr>
          <a:xfrm>
            <a:off x="552450" y="5219700"/>
            <a:ext cx="12611100" cy="1809750"/>
          </a:xfrm>
          <a:prstGeom prst="roundRect">
            <a:avLst>
              <a:gd name="adj" fmla="val 7368"/>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Guardrails title"/>
          <p:cNvSpPr txBox="1"/>
          <p:nvPr/>
        </p:nvSpPr>
        <p:spPr>
          <a:xfrm>
            <a:off x="876300" y="5467350"/>
            <a:ext cx="11430000" cy="381000"/>
          </a:xfrm>
          <a:prstGeom prst="rect">
            <a:avLst/>
          </a:prstGeom>
          <a:noFill/>
        </p:spPr>
        <p:txBody>
          <a:bodyPr wrap="square" lIns="0" tIns="0" rIns="0" bIns="0" anchor="t">
            <a:noAutofit/>
          </a:bodyPr>
          <a:lstStyle/>
          <a:p>
            <a:pPr algn="l">
              <a:lnSpc>
                <a:spcPct val="112000"/>
              </a:lnSpc>
            </a:pPr>
            <a:r>
              <a:rPr sz="2250" b="1" i="0">
                <a:solidFill>
                  <a:srgbClr val="FFFFFF"/>
                </a:solidFill>
                <a:latin typeface="Times New Roman"/>
              </a:rPr>
              <a:t>Safety guardrails built in</a:t>
            </a:r>
          </a:p>
        </p:txBody>
      </p:sp>
      <p:sp>
        <p:nvSpPr>
          <p:cNvPr id="36" name="Guardrails"/>
          <p:cNvSpPr txBox="1"/>
          <p:nvPr/>
        </p:nvSpPr>
        <p:spPr>
          <a:xfrm>
            <a:off x="876300" y="5962650"/>
            <a:ext cx="11906250" cy="952500"/>
          </a:xfrm>
          <a:prstGeom prst="rect">
            <a:avLst/>
          </a:prstGeom>
          <a:noFill/>
        </p:spPr>
        <p:txBody>
          <a:bodyPr wrap="square" lIns="0" tIns="0" rIns="0" bIns="0" anchor="t">
            <a:noAutofit/>
          </a:bodyPr>
          <a:lstStyle/>
          <a:p>
            <a:pPr marL="247650" indent="-247650" algn="l">
              <a:lnSpc>
                <a:spcPct val="112000"/>
              </a:lnSpc>
              <a:spcAft>
                <a:spcPts val="600"/>
              </a:spcAft>
              <a:buFont typeface="Arial"/>
              <a:buChar char="•"/>
            </a:pPr>
            <a:r>
              <a:rPr sz="1650" b="0" i="0">
                <a:solidFill>
                  <a:srgbClr val="FFFFFF"/>
                </a:solidFill>
                <a:latin typeface="Times New Roman"/>
              </a:rPr>
              <a:t>Role-based access: each user sees only the elders they are linked to</a:t>
            </a:r>
          </a:p>
          <a:p>
            <a:pPr marL="247650" indent="-247650" algn="l">
              <a:lnSpc>
                <a:spcPct val="112000"/>
              </a:lnSpc>
              <a:spcAft>
                <a:spcPts val="600"/>
              </a:spcAft>
              <a:buFont typeface="Arial"/>
              <a:buChar char="•"/>
            </a:pPr>
            <a:r>
              <a:rPr sz="1650" b="0" i="0">
                <a:solidFill>
                  <a:srgbClr val="FFFFFF"/>
                </a:solidFill>
                <a:latin typeface="Times New Roman"/>
              </a:rPr>
              <a:t>ElderGuard alerts and informs; it does not diagnose or replace a doctor or emergency services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BFA"/>
        </a:solidFill>
        <a:effectLst/>
      </p:bgPr>
    </p:bg>
    <p:spTree>
      <p:nvGrpSpPr>
        <p:cNvPr id="1" name=""/>
        <p:cNvGrpSpPr/>
        <p:nvPr/>
      </p:nvGrpSpPr>
      <p:grpSpPr>
        <a:xfrm>
          <a:off x="0" y="0"/>
          <a:ext cx="0" cy="0"/>
          <a:chOff x="0" y="0"/>
          <a:chExt cx="0" cy="0"/>
        </a:xfrm>
      </p:grpSpPr>
      <p:pic>
        <p:nvPicPr>
          <p:cNvPr id="2" name="College crest" descr="crest.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png"/>
          <p:cNvPicPr>
            <a:picLocks noChangeAspect="1"/>
          </p:cNvPicPr>
          <p:nvPr/>
        </p:nvPicPr>
        <p:blipFill>
          <a:blip r:embed="rId3"/>
          <a:stretch>
            <a:fillRect/>
          </a:stretch>
        </p:blipFill>
        <p:spPr>
          <a:xfrm>
            <a:off x="11639550" y="0"/>
            <a:ext cx="2076450" cy="1028700"/>
          </a:xfrm>
          <a:prstGeom prst="rect">
            <a:avLst/>
          </a:prstGeom>
        </p:spPr>
      </p:pic>
      <p:sp>
        <p:nvSpPr>
          <p:cNvPr id="4" name="Title"/>
          <p:cNvSpPr txBox="1"/>
          <p:nvPr/>
        </p:nvSpPr>
        <p:spPr>
          <a:xfrm>
            <a:off x="733425" y="1009650"/>
            <a:ext cx="10858500" cy="1047750"/>
          </a:xfrm>
          <a:prstGeom prst="rect">
            <a:avLst/>
          </a:prstGeom>
          <a:noFill/>
        </p:spPr>
        <p:txBody>
          <a:bodyPr wrap="square" lIns="0" tIns="0" rIns="0" bIns="0" anchor="t">
            <a:noAutofit/>
          </a:bodyPr>
          <a:lstStyle/>
          <a:p>
            <a:pPr algn="l">
              <a:lnSpc>
                <a:spcPct val="100000"/>
              </a:lnSpc>
            </a:pPr>
            <a:r>
              <a:rPr sz="3150" b="0" i="0">
                <a:solidFill>
                  <a:srgbClr val="8B5D52"/>
                </a:solidFill>
                <a:latin typeface="Times New Roman"/>
              </a:rPr>
              <a:t>Prototype</a:t>
            </a:r>
            <a:r>
              <a:rPr sz="3150" b="0" i="0">
                <a:solidFill>
                  <a:srgbClr val="3F342E"/>
                </a:solidFill>
                <a:latin typeface="Times New Roman"/>
              </a:rPr>
              <a:t> Development: Building Tangible Solutions for User Testing</a:t>
            </a:r>
          </a:p>
        </p:txBody>
      </p:sp>
      <p:sp>
        <p:nvSpPr>
          <p:cNvPr id="5" name="Prototype frame"/>
          <p:cNvSpPr/>
          <p:nvPr/>
        </p:nvSpPr>
        <p:spPr>
          <a:xfrm>
            <a:off x="552450" y="2038350"/>
            <a:ext cx="5810250" cy="4953000"/>
          </a:xfrm>
          <a:prstGeom prst="roundRect">
            <a:avLst>
              <a:gd name="adj" fmla="val 2692"/>
            </a:avLst>
          </a:prstGeom>
          <a:solidFill>
            <a:srgbClr val="2A2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ame caption"/>
          <p:cNvSpPr txBox="1"/>
          <p:nvPr/>
        </p:nvSpPr>
        <p:spPr>
          <a:xfrm>
            <a:off x="762000" y="2247900"/>
            <a:ext cx="5334000" cy="266700"/>
          </a:xfrm>
          <a:prstGeom prst="rect">
            <a:avLst/>
          </a:prstGeom>
          <a:noFill/>
        </p:spPr>
        <p:txBody>
          <a:bodyPr wrap="square" lIns="0" tIns="0" rIns="0" bIns="0" anchor="t">
            <a:noAutofit/>
          </a:bodyPr>
          <a:lstStyle/>
          <a:p>
            <a:pPr algn="l">
              <a:lnSpc>
                <a:spcPct val="112000"/>
              </a:lnSpc>
            </a:pPr>
            <a:r>
              <a:rPr sz="1500" b="1" i="0">
                <a:solidFill>
                  <a:srgbClr val="E7D3CB"/>
                </a:solidFill>
                <a:latin typeface="Times New Roman"/>
              </a:rPr>
              <a:t>ElderGuard AI · working prototype</a:t>
            </a:r>
          </a:p>
        </p:txBody>
      </p:sp>
      <p:pic>
        <p:nvPicPr>
          <p:cNvPr id="7" name="Elder portal screenshot" descr="shot-elder_566x312.png"/>
          <p:cNvPicPr>
            <a:picLocks noChangeAspect="1"/>
          </p:cNvPicPr>
          <p:nvPr/>
        </p:nvPicPr>
        <p:blipFill>
          <a:blip r:embed="rId4"/>
          <a:stretch>
            <a:fillRect/>
          </a:stretch>
        </p:blipFill>
        <p:spPr>
          <a:xfrm>
            <a:off x="762000" y="2590800"/>
            <a:ext cx="5391150" cy="2971800"/>
          </a:xfrm>
          <a:prstGeom prst="rect">
            <a:avLst/>
          </a:prstGeom>
        </p:spPr>
      </p:pic>
      <p:pic>
        <p:nvPicPr>
          <p:cNvPr id="8" name="Caregiver portal" descr="shot-caregiver_179x100.png"/>
          <p:cNvPicPr>
            <a:picLocks noChangeAspect="1"/>
          </p:cNvPicPr>
          <p:nvPr/>
        </p:nvPicPr>
        <p:blipFill>
          <a:blip r:embed="rId5"/>
          <a:stretch>
            <a:fillRect/>
          </a:stretch>
        </p:blipFill>
        <p:spPr>
          <a:xfrm>
            <a:off x="762000" y="5695950"/>
            <a:ext cx="1708150" cy="952500"/>
          </a:xfrm>
          <a:prstGeom prst="rect">
            <a:avLst/>
          </a:prstGeom>
        </p:spPr>
      </p:pic>
      <p:sp>
        <p:nvSpPr>
          <p:cNvPr id="9" name="Caregiver portal caption"/>
          <p:cNvSpPr txBox="1"/>
          <p:nvPr/>
        </p:nvSpPr>
        <p:spPr>
          <a:xfrm>
            <a:off x="762000" y="6686550"/>
            <a:ext cx="1708150" cy="209550"/>
          </a:xfrm>
          <a:prstGeom prst="rect">
            <a:avLst/>
          </a:prstGeom>
          <a:noFill/>
        </p:spPr>
        <p:txBody>
          <a:bodyPr wrap="square" lIns="0" tIns="0" rIns="0" bIns="0" anchor="t">
            <a:noAutofit/>
          </a:bodyPr>
          <a:lstStyle/>
          <a:p>
            <a:pPr algn="ctr">
              <a:lnSpc>
                <a:spcPct val="112000"/>
              </a:lnSpc>
            </a:pPr>
            <a:r>
              <a:rPr sz="1200" b="0" i="0">
                <a:solidFill>
                  <a:srgbClr val="E7D3CB"/>
                </a:solidFill>
                <a:latin typeface="Times New Roman"/>
              </a:rPr>
              <a:t>Caregiver portal</a:t>
            </a:r>
          </a:p>
        </p:txBody>
      </p:sp>
      <p:pic>
        <p:nvPicPr>
          <p:cNvPr id="10" name="Pharmacy queue" descr="shot-pharmacy_179x100.png"/>
          <p:cNvPicPr>
            <a:picLocks noChangeAspect="1"/>
          </p:cNvPicPr>
          <p:nvPr/>
        </p:nvPicPr>
        <p:blipFill>
          <a:blip r:embed="rId6"/>
          <a:stretch>
            <a:fillRect/>
          </a:stretch>
        </p:blipFill>
        <p:spPr>
          <a:xfrm>
            <a:off x="2603500" y="5695950"/>
            <a:ext cx="1708150" cy="952500"/>
          </a:xfrm>
          <a:prstGeom prst="rect">
            <a:avLst/>
          </a:prstGeom>
        </p:spPr>
      </p:pic>
      <p:sp>
        <p:nvSpPr>
          <p:cNvPr id="11" name="Pharmacy queue caption"/>
          <p:cNvSpPr txBox="1"/>
          <p:nvPr/>
        </p:nvSpPr>
        <p:spPr>
          <a:xfrm>
            <a:off x="2603500" y="6686550"/>
            <a:ext cx="1708150" cy="209550"/>
          </a:xfrm>
          <a:prstGeom prst="rect">
            <a:avLst/>
          </a:prstGeom>
          <a:noFill/>
        </p:spPr>
        <p:txBody>
          <a:bodyPr wrap="square" lIns="0" tIns="0" rIns="0" bIns="0" anchor="t">
            <a:noAutofit/>
          </a:bodyPr>
          <a:lstStyle/>
          <a:p>
            <a:pPr algn="ctr">
              <a:lnSpc>
                <a:spcPct val="112000"/>
              </a:lnSpc>
            </a:pPr>
            <a:r>
              <a:rPr sz="1200" b="0" i="0">
                <a:solidFill>
                  <a:srgbClr val="E7D3CB"/>
                </a:solidFill>
                <a:latin typeface="Times New Roman"/>
              </a:rPr>
              <a:t>Pharmacy queue</a:t>
            </a:r>
          </a:p>
        </p:txBody>
      </p:sp>
      <p:pic>
        <p:nvPicPr>
          <p:cNvPr id="12" name="Landing page" descr="shot-landing_179x100.png"/>
          <p:cNvPicPr>
            <a:picLocks noChangeAspect="1"/>
          </p:cNvPicPr>
          <p:nvPr/>
        </p:nvPicPr>
        <p:blipFill>
          <a:blip r:embed="rId7"/>
          <a:stretch>
            <a:fillRect/>
          </a:stretch>
        </p:blipFill>
        <p:spPr>
          <a:xfrm>
            <a:off x="4445000" y="5695950"/>
            <a:ext cx="1708150" cy="952500"/>
          </a:xfrm>
          <a:prstGeom prst="rect">
            <a:avLst/>
          </a:prstGeom>
        </p:spPr>
      </p:pic>
      <p:sp>
        <p:nvSpPr>
          <p:cNvPr id="13" name="Landing page caption"/>
          <p:cNvSpPr txBox="1"/>
          <p:nvPr/>
        </p:nvSpPr>
        <p:spPr>
          <a:xfrm>
            <a:off x="4445000" y="6686550"/>
            <a:ext cx="1708150" cy="209550"/>
          </a:xfrm>
          <a:prstGeom prst="rect">
            <a:avLst/>
          </a:prstGeom>
          <a:noFill/>
        </p:spPr>
        <p:txBody>
          <a:bodyPr wrap="square" lIns="0" tIns="0" rIns="0" bIns="0" anchor="t">
            <a:noAutofit/>
          </a:bodyPr>
          <a:lstStyle/>
          <a:p>
            <a:pPr algn="ctr">
              <a:lnSpc>
                <a:spcPct val="112000"/>
              </a:lnSpc>
            </a:pPr>
            <a:r>
              <a:rPr sz="1200" b="0" i="0">
                <a:solidFill>
                  <a:srgbClr val="E7D3CB"/>
                </a:solidFill>
                <a:latin typeface="Times New Roman"/>
              </a:rPr>
              <a:t>Landing page</a:t>
            </a:r>
          </a:p>
        </p:txBody>
      </p:sp>
      <p:sp>
        <p:nvSpPr>
          <p:cNvPr id="14" name="Oval 13"/>
          <p:cNvSpPr/>
          <p:nvPr/>
        </p:nvSpPr>
        <p:spPr>
          <a:xfrm>
            <a:off x="6781800" y="203835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Icon PencilRuler" descr="icon_PencilRuler_FFFFFF.png"/>
          <p:cNvPicPr>
            <a:picLocks noChangeAspect="1"/>
          </p:cNvPicPr>
          <p:nvPr/>
        </p:nvPicPr>
        <p:blipFill>
          <a:blip r:embed="rId8"/>
          <a:stretch>
            <a:fillRect/>
          </a:stretch>
        </p:blipFill>
        <p:spPr>
          <a:xfrm>
            <a:off x="6935343" y="2191893"/>
            <a:ext cx="283464" cy="283464"/>
          </a:xfrm>
          <a:prstGeom prst="rect">
            <a:avLst/>
          </a:prstGeom>
        </p:spPr>
      </p:pic>
      <p:sp>
        <p:nvSpPr>
          <p:cNvPr id="16" name="Design System title"/>
          <p:cNvSpPr txBox="1"/>
          <p:nvPr/>
        </p:nvSpPr>
        <p:spPr>
          <a:xfrm>
            <a:off x="7581900" y="2000250"/>
            <a:ext cx="5581650" cy="419100"/>
          </a:xfrm>
          <a:prstGeom prst="rect">
            <a:avLst/>
          </a:prstGeom>
          <a:noFill/>
        </p:spPr>
        <p:txBody>
          <a:bodyPr wrap="square" lIns="0" tIns="0" rIns="0" bIns="0" anchor="t">
            <a:noAutofit/>
          </a:bodyPr>
          <a:lstStyle/>
          <a:p>
            <a:pPr algn="l">
              <a:lnSpc>
                <a:spcPct val="112000"/>
              </a:lnSpc>
            </a:pPr>
            <a:r>
              <a:rPr sz="2475" b="0" i="0">
                <a:solidFill>
                  <a:srgbClr val="3F342E"/>
                </a:solidFill>
                <a:latin typeface="Times New Roman"/>
              </a:rPr>
              <a:t>Design System</a:t>
            </a:r>
          </a:p>
        </p:txBody>
      </p:sp>
      <p:sp>
        <p:nvSpPr>
          <p:cNvPr id="17" name="Design System text"/>
          <p:cNvSpPr txBox="1"/>
          <p:nvPr/>
        </p:nvSpPr>
        <p:spPr>
          <a:xfrm>
            <a:off x="7581900" y="2457450"/>
            <a:ext cx="5581650" cy="85725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Warm paper background, one teal accent, large readable type and a text-size control for low vision.</a:t>
            </a:r>
          </a:p>
        </p:txBody>
      </p:sp>
      <p:sp>
        <p:nvSpPr>
          <p:cNvPr id="18" name="Oval 17"/>
          <p:cNvSpPr/>
          <p:nvPr/>
        </p:nvSpPr>
        <p:spPr>
          <a:xfrm>
            <a:off x="6781800" y="346710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Icon Cursor" descr="icon_Cursor_FFFFFF.png"/>
          <p:cNvPicPr>
            <a:picLocks noChangeAspect="1"/>
          </p:cNvPicPr>
          <p:nvPr/>
        </p:nvPicPr>
        <p:blipFill>
          <a:blip r:embed="rId9"/>
          <a:stretch>
            <a:fillRect/>
          </a:stretch>
        </p:blipFill>
        <p:spPr>
          <a:xfrm>
            <a:off x="6935343" y="3620643"/>
            <a:ext cx="283464" cy="283464"/>
          </a:xfrm>
          <a:prstGeom prst="rect">
            <a:avLst/>
          </a:prstGeom>
        </p:spPr>
      </p:pic>
      <p:sp>
        <p:nvSpPr>
          <p:cNvPr id="20" name="Interactive Portals title"/>
          <p:cNvSpPr txBox="1"/>
          <p:nvPr/>
        </p:nvSpPr>
        <p:spPr>
          <a:xfrm>
            <a:off x="7581900" y="3429000"/>
            <a:ext cx="5581650" cy="419100"/>
          </a:xfrm>
          <a:prstGeom prst="rect">
            <a:avLst/>
          </a:prstGeom>
          <a:noFill/>
        </p:spPr>
        <p:txBody>
          <a:bodyPr wrap="square" lIns="0" tIns="0" rIns="0" bIns="0" anchor="t">
            <a:noAutofit/>
          </a:bodyPr>
          <a:lstStyle/>
          <a:p>
            <a:pPr algn="l">
              <a:lnSpc>
                <a:spcPct val="112000"/>
              </a:lnSpc>
            </a:pPr>
            <a:r>
              <a:rPr sz="2475" b="0" i="0">
                <a:solidFill>
                  <a:srgbClr val="3F342E"/>
                </a:solidFill>
                <a:latin typeface="Times New Roman"/>
              </a:rPr>
              <a:t>Interactive Portals</a:t>
            </a:r>
          </a:p>
        </p:txBody>
      </p:sp>
      <p:sp>
        <p:nvSpPr>
          <p:cNvPr id="21" name="Interactive Portals text"/>
          <p:cNvSpPr txBox="1"/>
          <p:nvPr/>
        </p:nvSpPr>
        <p:spPr>
          <a:xfrm>
            <a:off x="7581900" y="3886200"/>
            <a:ext cx="5581650" cy="85725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Five role-based portals (elder, caregiver, doctor, hospital, pharmacy) running on real data.</a:t>
            </a:r>
          </a:p>
        </p:txBody>
      </p:sp>
      <p:sp>
        <p:nvSpPr>
          <p:cNvPr id="22" name="Oval 21"/>
          <p:cNvSpPr/>
          <p:nvPr/>
        </p:nvSpPr>
        <p:spPr>
          <a:xfrm>
            <a:off x="6781800" y="4895850"/>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Icon Cube" descr="icon_Cube_FFFFFF.png"/>
          <p:cNvPicPr>
            <a:picLocks noChangeAspect="1"/>
          </p:cNvPicPr>
          <p:nvPr/>
        </p:nvPicPr>
        <p:blipFill>
          <a:blip r:embed="rId10"/>
          <a:stretch>
            <a:fillRect/>
          </a:stretch>
        </p:blipFill>
        <p:spPr>
          <a:xfrm>
            <a:off x="6935343" y="5049393"/>
            <a:ext cx="283464" cy="283464"/>
          </a:xfrm>
          <a:prstGeom prst="rect">
            <a:avLst/>
          </a:prstGeom>
        </p:spPr>
      </p:pic>
      <p:sp>
        <p:nvSpPr>
          <p:cNvPr id="24" name="Minimum Viable Product title"/>
          <p:cNvSpPr txBox="1"/>
          <p:nvPr/>
        </p:nvSpPr>
        <p:spPr>
          <a:xfrm>
            <a:off x="7581900" y="4857750"/>
            <a:ext cx="5581650" cy="419100"/>
          </a:xfrm>
          <a:prstGeom prst="rect">
            <a:avLst/>
          </a:prstGeom>
          <a:noFill/>
        </p:spPr>
        <p:txBody>
          <a:bodyPr wrap="square" lIns="0" tIns="0" rIns="0" bIns="0" anchor="t">
            <a:noAutofit/>
          </a:bodyPr>
          <a:lstStyle/>
          <a:p>
            <a:pPr algn="l">
              <a:lnSpc>
                <a:spcPct val="112000"/>
              </a:lnSpc>
            </a:pPr>
            <a:r>
              <a:rPr sz="2475" b="0" i="0">
                <a:solidFill>
                  <a:srgbClr val="3F342E"/>
                </a:solidFill>
                <a:latin typeface="Times New Roman"/>
              </a:rPr>
              <a:t>Minimum Viable Product</a:t>
            </a:r>
          </a:p>
        </p:txBody>
      </p:sp>
      <p:sp>
        <p:nvSpPr>
          <p:cNvPr id="25" name="Minimum Viable Product text"/>
          <p:cNvSpPr txBox="1"/>
          <p:nvPr/>
        </p:nvSpPr>
        <p:spPr>
          <a:xfrm>
            <a:off x="7581900" y="5314950"/>
            <a:ext cx="5581650" cy="85725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A working React and FastAPI app: reminders, SOS escalation, vitals, and prescriptions that reach the pharmacy.</a:t>
            </a:r>
          </a:p>
        </p:txBody>
      </p:sp>
      <p:sp>
        <p:nvSpPr>
          <p:cNvPr id="26" name="Footer"/>
          <p:cNvSpPr txBox="1"/>
          <p:nvPr/>
        </p:nvSpPr>
        <p:spPr>
          <a:xfrm>
            <a:off x="6781800" y="6572250"/>
            <a:ext cx="6381750" cy="57150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Prototypes are learning tools. Build fast, fail fast and iterate based on what real users show you.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BFA"/>
        </a:solidFill>
        <a:effectLst/>
      </p:bgPr>
    </p:bg>
    <p:spTree>
      <p:nvGrpSpPr>
        <p:cNvPr id="1" name=""/>
        <p:cNvGrpSpPr/>
        <p:nvPr/>
      </p:nvGrpSpPr>
      <p:grpSpPr>
        <a:xfrm>
          <a:off x="0" y="0"/>
          <a:ext cx="0" cy="0"/>
          <a:chOff x="0" y="0"/>
          <a:chExt cx="0" cy="0"/>
        </a:xfrm>
      </p:grpSpPr>
      <p:pic>
        <p:nvPicPr>
          <p:cNvPr id="2" name="College crest" descr="crest.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png"/>
          <p:cNvPicPr>
            <a:picLocks noChangeAspect="1"/>
          </p:cNvPicPr>
          <p:nvPr/>
        </p:nvPicPr>
        <p:blipFill>
          <a:blip r:embed="rId3"/>
          <a:stretch>
            <a:fillRect/>
          </a:stretch>
        </p:blipFill>
        <p:spPr>
          <a:xfrm>
            <a:off x="11639550" y="0"/>
            <a:ext cx="2076450" cy="1028700"/>
          </a:xfrm>
          <a:prstGeom prst="rect">
            <a:avLst/>
          </a:prstGeom>
        </p:spPr>
      </p:pic>
      <p:sp>
        <p:nvSpPr>
          <p:cNvPr id="4" name="Title"/>
          <p:cNvSpPr txBox="1"/>
          <p:nvPr/>
        </p:nvSpPr>
        <p:spPr>
          <a:xfrm>
            <a:off x="733425" y="1009650"/>
            <a:ext cx="10858500" cy="1047750"/>
          </a:xfrm>
          <a:prstGeom prst="rect">
            <a:avLst/>
          </a:prstGeom>
          <a:noFill/>
        </p:spPr>
        <p:txBody>
          <a:bodyPr wrap="square" lIns="0" tIns="0" rIns="0" bIns="0" anchor="t">
            <a:noAutofit/>
          </a:bodyPr>
          <a:lstStyle/>
          <a:p>
            <a:pPr algn="l">
              <a:lnSpc>
                <a:spcPct val="100000"/>
              </a:lnSpc>
            </a:pPr>
            <a:r>
              <a:rPr sz="3150" b="0" i="0">
                <a:solidFill>
                  <a:srgbClr val="8B5D52"/>
                </a:solidFill>
                <a:latin typeface="Times New Roman"/>
              </a:rPr>
              <a:t>Testing</a:t>
            </a:r>
            <a:r>
              <a:rPr sz="3150" b="0" i="0">
                <a:solidFill>
                  <a:srgbClr val="3F342E"/>
                </a:solidFill>
                <a:latin typeface="Times New Roman"/>
              </a:rPr>
              <a:t> Phase: Verifying the Prototype and Planning User Trials</a:t>
            </a:r>
          </a:p>
        </p:txBody>
      </p:sp>
      <p:sp>
        <p:nvSpPr>
          <p:cNvPr id="5" name="Heading 1"/>
          <p:cNvSpPr txBox="1"/>
          <p:nvPr/>
        </p:nvSpPr>
        <p:spPr>
          <a:xfrm>
            <a:off x="733425" y="1885950"/>
            <a:ext cx="7524750" cy="419100"/>
          </a:xfrm>
          <a:prstGeom prst="rect">
            <a:avLst/>
          </a:prstGeom>
          <a:noFill/>
        </p:spPr>
        <p:txBody>
          <a:bodyPr wrap="square" lIns="0" tIns="0" rIns="0" bIns="0" anchor="t">
            <a:noAutofit/>
          </a:bodyPr>
          <a:lstStyle/>
          <a:p>
            <a:pPr algn="l">
              <a:lnSpc>
                <a:spcPct val="112000"/>
              </a:lnSpc>
            </a:pPr>
            <a:r>
              <a:rPr sz="2550" b="0" i="0">
                <a:solidFill>
                  <a:srgbClr val="3F342E"/>
                </a:solidFill>
                <a:latin typeface="Times New Roman"/>
              </a:rPr>
              <a:t>Automated Testing</a:t>
            </a:r>
          </a:p>
        </p:txBody>
      </p:sp>
      <p:sp>
        <p:nvSpPr>
          <p:cNvPr id="6" name="Automated testing"/>
          <p:cNvSpPr txBox="1"/>
          <p:nvPr/>
        </p:nvSpPr>
        <p:spPr>
          <a:xfrm>
            <a:off x="733425" y="2400300"/>
            <a:ext cx="7524750" cy="857250"/>
          </a:xfrm>
          <a:prstGeom prst="rect">
            <a:avLst/>
          </a:prstGeom>
          <a:noFill/>
        </p:spPr>
        <p:txBody>
          <a:bodyPr wrap="square" lIns="0" tIns="0" rIns="0" bIns="0" anchor="t">
            <a:noAutofit/>
          </a:bodyPr>
          <a:lstStyle/>
          <a:p>
            <a:pPr algn="l">
              <a:lnSpc>
                <a:spcPct val="115000"/>
              </a:lnSpc>
            </a:pPr>
            <a:r>
              <a:rPr sz="1650" b="0" i="0">
                <a:solidFill>
                  <a:srgbClr val="3F342E"/>
                </a:solidFill>
                <a:latin typeface="Times New Roman"/>
              </a:rPr>
              <a:t>An automated browser opens every portal page, the demo story is checked end to end, and each screen is scanned against WCAG 2.1 accessibility rules.</a:t>
            </a:r>
          </a:p>
        </p:txBody>
      </p:sp>
      <p:sp>
        <p:nvSpPr>
          <p:cNvPr id="7" name="Heading 2"/>
          <p:cNvSpPr txBox="1"/>
          <p:nvPr/>
        </p:nvSpPr>
        <p:spPr>
          <a:xfrm>
            <a:off x="733425" y="3448050"/>
            <a:ext cx="7524750" cy="419100"/>
          </a:xfrm>
          <a:prstGeom prst="rect">
            <a:avLst/>
          </a:prstGeom>
          <a:noFill/>
        </p:spPr>
        <p:txBody>
          <a:bodyPr wrap="square" lIns="0" tIns="0" rIns="0" bIns="0" anchor="t">
            <a:noAutofit/>
          </a:bodyPr>
          <a:lstStyle/>
          <a:p>
            <a:pPr algn="l">
              <a:lnSpc>
                <a:spcPct val="112000"/>
              </a:lnSpc>
            </a:pPr>
            <a:r>
              <a:rPr sz="2550" b="0" i="0">
                <a:solidFill>
                  <a:srgbClr val="3F342E"/>
                </a:solidFill>
                <a:latin typeface="Times New Roman"/>
              </a:rPr>
              <a:t>Key Testing Methods</a:t>
            </a:r>
          </a:p>
        </p:txBody>
      </p:sp>
      <p:sp>
        <p:nvSpPr>
          <p:cNvPr id="8" name="Methods"/>
          <p:cNvSpPr txBox="1"/>
          <p:nvPr/>
        </p:nvSpPr>
        <p:spPr>
          <a:xfrm>
            <a:off x="733425" y="4000500"/>
            <a:ext cx="7620000" cy="2095500"/>
          </a:xfrm>
          <a:prstGeom prst="rect">
            <a:avLst/>
          </a:prstGeom>
          <a:noFill/>
        </p:spPr>
        <p:txBody>
          <a:bodyPr wrap="square" lIns="0" tIns="0" rIns="0" bIns="0" anchor="t">
            <a:noAutofit/>
          </a:bodyPr>
          <a:lstStyle/>
          <a:p>
            <a:pPr algn="l">
              <a:lnSpc>
                <a:spcPct val="115000"/>
              </a:lnSpc>
              <a:spcAft>
                <a:spcPts val="600"/>
              </a:spcAft>
            </a:pPr>
            <a:r>
              <a:rPr sz="1650" b="1" i="0">
                <a:solidFill>
                  <a:srgbClr val="3F342E"/>
                </a:solidFill>
                <a:latin typeface="Times New Roman"/>
              </a:rPr>
              <a:t>End-to-end tests (Playwright): </a:t>
            </a:r>
            <a:r>
              <a:rPr sz="1650" b="0" i="0">
                <a:solidFill>
                  <a:srgbClr val="3F342E"/>
                </a:solidFill>
                <a:latin typeface="Times New Roman"/>
              </a:rPr>
              <a:t>22 tests across all five portals and phone size</a:t>
            </a:r>
          </a:p>
          <a:p>
            <a:pPr algn="l">
              <a:lnSpc>
                <a:spcPct val="115000"/>
              </a:lnSpc>
              <a:spcAft>
                <a:spcPts val="600"/>
              </a:spcAft>
            </a:pPr>
            <a:r>
              <a:rPr sz="1650" b="1" i="0">
                <a:solidFill>
                  <a:srgbClr val="3F342E"/>
                </a:solidFill>
                <a:latin typeface="Times New Roman"/>
              </a:rPr>
              <a:t>Accessibility audit (axe): </a:t>
            </a:r>
            <a:r>
              <a:rPr sz="1650" b="0" i="0">
                <a:solidFill>
                  <a:srgbClr val="3F342E"/>
                </a:solidFill>
                <a:latin typeface="Times New Roman"/>
              </a:rPr>
              <a:t>0 serious violations against WCAG 2.1 A/AA</a:t>
            </a:r>
          </a:p>
          <a:p>
            <a:pPr algn="l">
              <a:lnSpc>
                <a:spcPct val="115000"/>
              </a:lnSpc>
              <a:spcAft>
                <a:spcPts val="600"/>
              </a:spcAft>
            </a:pPr>
            <a:r>
              <a:rPr sz="1650" b="1" i="0">
                <a:solidFill>
                  <a:srgbClr val="3F342E"/>
                </a:solidFill>
                <a:latin typeface="Times New Roman"/>
              </a:rPr>
              <a:t>SOS escalation drill: </a:t>
            </a:r>
            <a:r>
              <a:rPr sz="1650" b="0" i="0">
                <a:solidFill>
                  <a:srgbClr val="3F342E"/>
                </a:solidFill>
                <a:latin typeface="Times New Roman"/>
              </a:rPr>
              <a:t>all 4 tiers fired in order in a timed run</a:t>
            </a:r>
          </a:p>
          <a:p>
            <a:pPr algn="l">
              <a:lnSpc>
                <a:spcPct val="115000"/>
              </a:lnSpc>
              <a:spcAft>
                <a:spcPts val="600"/>
              </a:spcAft>
            </a:pPr>
            <a:r>
              <a:rPr sz="1650" b="1" i="0">
                <a:solidFill>
                  <a:srgbClr val="3F342E"/>
                </a:solidFill>
                <a:latin typeface="Times New Roman"/>
              </a:rPr>
              <a:t>Planned: </a:t>
            </a:r>
            <a:r>
              <a:rPr sz="1650" b="0" i="0">
                <a:solidFill>
                  <a:srgbClr val="3F342E"/>
                </a:solidFill>
                <a:latin typeface="Times New Roman"/>
              </a:rPr>
              <a:t>teach-back and think-aloud sessions with real elders and caregivers</a:t>
            </a:r>
          </a:p>
        </p:txBody>
      </p:sp>
      <p:sp>
        <p:nvSpPr>
          <p:cNvPr id="9" name="Oval 8"/>
          <p:cNvSpPr/>
          <p:nvPr/>
        </p:nvSpPr>
        <p:spPr>
          <a:xfrm>
            <a:off x="9144000" y="1714500"/>
            <a:ext cx="2571750" cy="25717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639300" y="2209800"/>
            <a:ext cx="1581150" cy="1581150"/>
          </a:xfrm>
          <a:prstGeom prst="ellipse">
            <a:avLst/>
          </a:prstGeom>
          <a:solidFill>
            <a:srgbClr val="FFF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22/22 value"/>
          <p:cNvSpPr txBox="1"/>
          <p:nvPr/>
        </p:nvSpPr>
        <p:spPr>
          <a:xfrm>
            <a:off x="9639300" y="2209800"/>
            <a:ext cx="1581150" cy="1581150"/>
          </a:xfrm>
          <a:prstGeom prst="rect">
            <a:avLst/>
          </a:prstGeom>
          <a:noFill/>
        </p:spPr>
        <p:txBody>
          <a:bodyPr wrap="square" lIns="0" tIns="0" rIns="0" bIns="0" anchor="ctr">
            <a:noAutofit/>
          </a:bodyPr>
          <a:lstStyle/>
          <a:p>
            <a:pPr algn="ctr">
              <a:lnSpc>
                <a:spcPct val="112000"/>
              </a:lnSpc>
            </a:pPr>
            <a:r>
              <a:rPr sz="3900" b="0" i="0">
                <a:solidFill>
                  <a:srgbClr val="3F342E"/>
                </a:solidFill>
                <a:latin typeface="Times New Roman"/>
              </a:rPr>
              <a:t>22/22</a:t>
            </a:r>
          </a:p>
        </p:txBody>
      </p:sp>
      <p:sp>
        <p:nvSpPr>
          <p:cNvPr id="12" name="22/22 label"/>
          <p:cNvSpPr txBox="1"/>
          <p:nvPr/>
        </p:nvSpPr>
        <p:spPr>
          <a:xfrm>
            <a:off x="11772900" y="2628900"/>
            <a:ext cx="1809750" cy="666750"/>
          </a:xfrm>
          <a:prstGeom prst="rect">
            <a:avLst/>
          </a:prstGeom>
          <a:noFill/>
        </p:spPr>
        <p:txBody>
          <a:bodyPr wrap="square" lIns="0" tIns="0" rIns="0" bIns="0" anchor="t">
            <a:noAutofit/>
          </a:bodyPr>
          <a:lstStyle/>
          <a:p>
            <a:pPr algn="l">
              <a:lnSpc>
                <a:spcPct val="110000"/>
              </a:lnSpc>
            </a:pPr>
            <a:r>
              <a:rPr sz="1650" b="0" i="0">
                <a:solidFill>
                  <a:srgbClr val="3F342E"/>
                </a:solidFill>
                <a:latin typeface="Times New Roman"/>
              </a:rPr>
              <a:t>Automated tests passing</a:t>
            </a:r>
          </a:p>
        </p:txBody>
      </p:sp>
      <p:sp>
        <p:nvSpPr>
          <p:cNvPr id="13" name="Oval 12"/>
          <p:cNvSpPr/>
          <p:nvPr/>
        </p:nvSpPr>
        <p:spPr>
          <a:xfrm>
            <a:off x="9144000" y="4438650"/>
            <a:ext cx="2571750" cy="25717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639300" y="4933950"/>
            <a:ext cx="1581150" cy="1581150"/>
          </a:xfrm>
          <a:prstGeom prst="ellipse">
            <a:avLst/>
          </a:prstGeom>
          <a:solidFill>
            <a:srgbClr val="FFF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4/4 value"/>
          <p:cNvSpPr txBox="1"/>
          <p:nvPr/>
        </p:nvSpPr>
        <p:spPr>
          <a:xfrm>
            <a:off x="9639300" y="4933950"/>
            <a:ext cx="1581150" cy="1581150"/>
          </a:xfrm>
          <a:prstGeom prst="rect">
            <a:avLst/>
          </a:prstGeom>
          <a:noFill/>
        </p:spPr>
        <p:txBody>
          <a:bodyPr wrap="square" lIns="0" tIns="0" rIns="0" bIns="0" anchor="ctr">
            <a:noAutofit/>
          </a:bodyPr>
          <a:lstStyle/>
          <a:p>
            <a:pPr algn="ctr">
              <a:lnSpc>
                <a:spcPct val="112000"/>
              </a:lnSpc>
            </a:pPr>
            <a:r>
              <a:rPr sz="3900" b="0" i="0">
                <a:solidFill>
                  <a:srgbClr val="3F342E"/>
                </a:solidFill>
                <a:latin typeface="Times New Roman"/>
              </a:rPr>
              <a:t>4/4</a:t>
            </a:r>
          </a:p>
        </p:txBody>
      </p:sp>
      <p:sp>
        <p:nvSpPr>
          <p:cNvPr id="16" name="4/4 label"/>
          <p:cNvSpPr txBox="1"/>
          <p:nvPr/>
        </p:nvSpPr>
        <p:spPr>
          <a:xfrm>
            <a:off x="11772900" y="5353050"/>
            <a:ext cx="1809750" cy="666750"/>
          </a:xfrm>
          <a:prstGeom prst="rect">
            <a:avLst/>
          </a:prstGeom>
          <a:noFill/>
        </p:spPr>
        <p:txBody>
          <a:bodyPr wrap="square" lIns="0" tIns="0" rIns="0" bIns="0" anchor="t">
            <a:noAutofit/>
          </a:bodyPr>
          <a:lstStyle/>
          <a:p>
            <a:pPr algn="l">
              <a:lnSpc>
                <a:spcPct val="110000"/>
              </a:lnSpc>
            </a:pPr>
            <a:r>
              <a:rPr sz="1650" b="0" i="0">
                <a:solidFill>
                  <a:srgbClr val="3F342E"/>
                </a:solidFill>
                <a:latin typeface="Times New Roman"/>
              </a:rPr>
              <a:t>SOS tiers fired in the timed drill</a:t>
            </a:r>
          </a:p>
        </p:txBody>
      </p:sp>
      <p:sp>
        <p:nvSpPr>
          <p:cNvPr id="17" name="Footer"/>
          <p:cNvSpPr txBox="1"/>
          <p:nvPr/>
        </p:nvSpPr>
        <p:spPr>
          <a:xfrm>
            <a:off x="552450" y="7162800"/>
            <a:ext cx="12611100" cy="476250"/>
          </a:xfrm>
          <a:prstGeom prst="rect">
            <a:avLst/>
          </a:prstGeom>
          <a:noFill/>
        </p:spPr>
        <p:txBody>
          <a:bodyPr wrap="square" lIns="0" tIns="0" rIns="0" bIns="0" anchor="t">
            <a:noAutofit/>
          </a:bodyPr>
          <a:lstStyle/>
          <a:p>
            <a:pPr algn="l">
              <a:lnSpc>
                <a:spcPct val="112000"/>
              </a:lnSpc>
            </a:pPr>
            <a:r>
              <a:rPr sz="1650" b="0" i="0">
                <a:solidFill>
                  <a:srgbClr val="3F342E"/>
                </a:solidFill>
                <a:latin typeface="Times New Roman"/>
              </a:rPr>
              <a:t>Testing is discovery, not validation. Automated checks show that it works; sessions with real elders will show whether it helps.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BFA"/>
        </a:solidFill>
        <a:effectLst/>
      </p:bgPr>
    </p:bg>
    <p:spTree>
      <p:nvGrpSpPr>
        <p:cNvPr id="1" name=""/>
        <p:cNvGrpSpPr/>
        <p:nvPr/>
      </p:nvGrpSpPr>
      <p:grpSpPr>
        <a:xfrm>
          <a:off x="0" y="0"/>
          <a:ext cx="0" cy="0"/>
          <a:chOff x="0" y="0"/>
          <a:chExt cx="0" cy="0"/>
        </a:xfrm>
      </p:grpSpPr>
      <p:pic>
        <p:nvPicPr>
          <p:cNvPr id="2" name="College crest" descr="crest.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png"/>
          <p:cNvPicPr>
            <a:picLocks noChangeAspect="1"/>
          </p:cNvPicPr>
          <p:nvPr/>
        </p:nvPicPr>
        <p:blipFill>
          <a:blip r:embed="rId3"/>
          <a:stretch>
            <a:fillRect/>
          </a:stretch>
        </p:blipFill>
        <p:spPr>
          <a:xfrm>
            <a:off x="11639550" y="0"/>
            <a:ext cx="2076450" cy="1028700"/>
          </a:xfrm>
          <a:prstGeom prst="rect">
            <a:avLst/>
          </a:prstGeom>
        </p:spPr>
      </p:pic>
      <p:sp>
        <p:nvSpPr>
          <p:cNvPr id="4" name="Title"/>
          <p:cNvSpPr txBox="1"/>
          <p:nvPr/>
        </p:nvSpPr>
        <p:spPr>
          <a:xfrm>
            <a:off x="733425" y="1009650"/>
            <a:ext cx="10858500" cy="1047750"/>
          </a:xfrm>
          <a:prstGeom prst="rect">
            <a:avLst/>
          </a:prstGeom>
          <a:noFill/>
        </p:spPr>
        <p:txBody>
          <a:bodyPr wrap="square" lIns="0" tIns="0" rIns="0" bIns="0" anchor="t">
            <a:noAutofit/>
          </a:bodyPr>
          <a:lstStyle/>
          <a:p>
            <a:pPr algn="l">
              <a:lnSpc>
                <a:spcPct val="100000"/>
              </a:lnSpc>
            </a:pPr>
            <a:r>
              <a:rPr sz="3150" b="0" i="0">
                <a:solidFill>
                  <a:srgbClr val="8B5D52"/>
                </a:solidFill>
                <a:latin typeface="Times New Roman"/>
              </a:rPr>
              <a:t>Use Case:</a:t>
            </a:r>
            <a:r>
              <a:rPr sz="3150" b="0" i="0">
                <a:solidFill>
                  <a:srgbClr val="3F342E"/>
                </a:solidFill>
                <a:latin typeface="Times New Roman"/>
              </a:rPr>
              <a:t> How Connected Care Protects an Elder at Home</a:t>
            </a:r>
          </a:p>
        </p:txBody>
      </p:sp>
      <p:sp>
        <p:nvSpPr>
          <p:cNvPr id="5" name="Timeline"/>
          <p:cNvSpPr/>
          <p:nvPr/>
        </p:nvSpPr>
        <p:spPr>
          <a:xfrm>
            <a:off x="6877050" y="2038350"/>
            <a:ext cx="19050" cy="5143500"/>
          </a:xfrm>
          <a:prstGeom prst="rect">
            <a:avLst/>
          </a:prstGeom>
          <a:solidFill>
            <a:srgbClr val="D8CF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Initial Challenge"/>
          <p:cNvSpPr txBox="1"/>
          <p:nvPr/>
        </p:nvSpPr>
        <p:spPr>
          <a:xfrm>
            <a:off x="666750" y="2038350"/>
            <a:ext cx="5476875" cy="381000"/>
          </a:xfrm>
          <a:prstGeom prst="rect">
            <a:avLst/>
          </a:prstGeom>
          <a:noFill/>
        </p:spPr>
        <p:txBody>
          <a:bodyPr wrap="square" lIns="0" tIns="0" rIns="0" bIns="0" anchor="t">
            <a:noAutofit/>
          </a:bodyPr>
          <a:lstStyle/>
          <a:p>
            <a:pPr algn="r">
              <a:lnSpc>
                <a:spcPct val="112000"/>
              </a:lnSpc>
            </a:pPr>
            <a:r>
              <a:rPr sz="2475" b="0" i="0">
                <a:solidFill>
                  <a:srgbClr val="3F342E"/>
                </a:solidFill>
                <a:latin typeface="Times New Roman"/>
              </a:rPr>
              <a:t>Initial Challenge</a:t>
            </a:r>
          </a:p>
        </p:txBody>
      </p:sp>
      <p:sp>
        <p:nvSpPr>
          <p:cNvPr id="7" name="Initial Challenge text"/>
          <p:cNvSpPr txBox="1"/>
          <p:nvPr/>
        </p:nvSpPr>
        <p:spPr>
          <a:xfrm>
            <a:off x="666750" y="2476500"/>
            <a:ext cx="5476875" cy="1143000"/>
          </a:xfrm>
          <a:prstGeom prst="rect">
            <a:avLst/>
          </a:prstGeom>
          <a:noFill/>
        </p:spPr>
        <p:txBody>
          <a:bodyPr wrap="square" lIns="0" tIns="0" rIns="0" bIns="0" anchor="t">
            <a:noAutofit/>
          </a:bodyPr>
          <a:lstStyle/>
          <a:p>
            <a:pPr algn="r">
              <a:lnSpc>
                <a:spcPct val="112000"/>
              </a:lnSpc>
            </a:pPr>
            <a:r>
              <a:rPr sz="1575" b="0" i="0">
                <a:solidFill>
                  <a:srgbClr val="3F342E"/>
                </a:solidFill>
                <a:latin typeface="Times New Roman"/>
              </a:rPr>
              <a:t>Mrs. Anaya Rao, 77, lives alone and takes three medicines a day. Her daughter Maya lives in another city and worries about missed doses and emergencies.</a:t>
            </a:r>
          </a:p>
        </p:txBody>
      </p:sp>
      <p:sp>
        <p:nvSpPr>
          <p:cNvPr id="8" name="Design Response"/>
          <p:cNvSpPr txBox="1"/>
          <p:nvPr/>
        </p:nvSpPr>
        <p:spPr>
          <a:xfrm>
            <a:off x="666750" y="4762500"/>
            <a:ext cx="5476875" cy="381000"/>
          </a:xfrm>
          <a:prstGeom prst="rect">
            <a:avLst/>
          </a:prstGeom>
          <a:noFill/>
        </p:spPr>
        <p:txBody>
          <a:bodyPr wrap="square" lIns="0" tIns="0" rIns="0" bIns="0" anchor="t">
            <a:noAutofit/>
          </a:bodyPr>
          <a:lstStyle/>
          <a:p>
            <a:pPr algn="r">
              <a:lnSpc>
                <a:spcPct val="112000"/>
              </a:lnSpc>
            </a:pPr>
            <a:r>
              <a:rPr sz="2475" b="0" i="0">
                <a:solidFill>
                  <a:srgbClr val="3F342E"/>
                </a:solidFill>
                <a:latin typeface="Times New Roman"/>
              </a:rPr>
              <a:t>Design Response</a:t>
            </a:r>
          </a:p>
        </p:txBody>
      </p:sp>
      <p:sp>
        <p:nvSpPr>
          <p:cNvPr id="9" name="Design Response text"/>
          <p:cNvSpPr txBox="1"/>
          <p:nvPr/>
        </p:nvSpPr>
        <p:spPr>
          <a:xfrm>
            <a:off x="666750" y="5200650"/>
            <a:ext cx="5476875" cy="1143000"/>
          </a:xfrm>
          <a:prstGeom prst="rect">
            <a:avLst/>
          </a:prstGeom>
          <a:noFill/>
        </p:spPr>
        <p:txBody>
          <a:bodyPr wrap="square" lIns="0" tIns="0" rIns="0" bIns="0" anchor="t">
            <a:noAutofit/>
          </a:bodyPr>
          <a:lstStyle/>
          <a:p>
            <a:pPr algn="r">
              <a:lnSpc>
                <a:spcPct val="112000"/>
              </a:lnSpc>
            </a:pPr>
            <a:r>
              <a:rPr sz="1575" b="0" i="0">
                <a:solidFill>
                  <a:srgbClr val="3F342E"/>
                </a:solidFill>
                <a:latin typeface="Times New Roman"/>
              </a:rPr>
              <a:t>A reminder rings and Anaya taps Taken; Maya sees it live. Dr. Mehta prescribes in the app and the order reaches the pharmacy. One tap on SOS alerts Maya first, then the hospital.</a:t>
            </a:r>
          </a:p>
        </p:txBody>
      </p:sp>
      <p:sp>
        <p:nvSpPr>
          <p:cNvPr id="10" name="Empathy Insights"/>
          <p:cNvSpPr txBox="1"/>
          <p:nvPr/>
        </p:nvSpPr>
        <p:spPr>
          <a:xfrm>
            <a:off x="7486650" y="3486150"/>
            <a:ext cx="5619750" cy="381000"/>
          </a:xfrm>
          <a:prstGeom prst="rect">
            <a:avLst/>
          </a:prstGeom>
          <a:noFill/>
        </p:spPr>
        <p:txBody>
          <a:bodyPr wrap="square" lIns="0" tIns="0" rIns="0" bIns="0" anchor="t">
            <a:noAutofit/>
          </a:bodyPr>
          <a:lstStyle/>
          <a:p>
            <a:pPr algn="l">
              <a:lnSpc>
                <a:spcPct val="112000"/>
              </a:lnSpc>
            </a:pPr>
            <a:r>
              <a:rPr sz="2475" b="0" i="0">
                <a:solidFill>
                  <a:srgbClr val="3F342E"/>
                </a:solidFill>
                <a:latin typeface="Times New Roman"/>
              </a:rPr>
              <a:t>Empathy Insights</a:t>
            </a:r>
          </a:p>
        </p:txBody>
      </p:sp>
      <p:sp>
        <p:nvSpPr>
          <p:cNvPr id="11" name="Empathy Insights text"/>
          <p:cNvSpPr txBox="1"/>
          <p:nvPr/>
        </p:nvSpPr>
        <p:spPr>
          <a:xfrm>
            <a:off x="7486650" y="3924300"/>
            <a:ext cx="5619750" cy="104775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Anaya does not want to be a burden and Maya cannot call every hour. They want reassurance that does not feel like surveillance.</a:t>
            </a:r>
          </a:p>
        </p:txBody>
      </p:sp>
      <p:sp>
        <p:nvSpPr>
          <p:cNvPr id="12" name="Expected Impact"/>
          <p:cNvSpPr txBox="1"/>
          <p:nvPr/>
        </p:nvSpPr>
        <p:spPr>
          <a:xfrm>
            <a:off x="7486650" y="6096000"/>
            <a:ext cx="5619750" cy="381000"/>
          </a:xfrm>
          <a:prstGeom prst="rect">
            <a:avLst/>
          </a:prstGeom>
          <a:noFill/>
        </p:spPr>
        <p:txBody>
          <a:bodyPr wrap="square" lIns="0" tIns="0" rIns="0" bIns="0" anchor="t">
            <a:noAutofit/>
          </a:bodyPr>
          <a:lstStyle/>
          <a:p>
            <a:pPr algn="l">
              <a:lnSpc>
                <a:spcPct val="112000"/>
              </a:lnSpc>
            </a:pPr>
            <a:r>
              <a:rPr sz="2475" b="0" i="0">
                <a:solidFill>
                  <a:srgbClr val="3F342E"/>
                </a:solidFill>
                <a:latin typeface="Times New Roman"/>
              </a:rPr>
              <a:t>Expected Impact</a:t>
            </a:r>
          </a:p>
        </p:txBody>
      </p:sp>
      <p:sp>
        <p:nvSpPr>
          <p:cNvPr id="13" name="Expected Impact text"/>
          <p:cNvSpPr txBox="1"/>
          <p:nvPr/>
        </p:nvSpPr>
        <p:spPr>
          <a:xfrm>
            <a:off x="7486650" y="6534150"/>
            <a:ext cx="5619750" cy="104775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Fewer missed doses, faster response and less worry for the family. To be measured in a pilot.</a:t>
            </a:r>
          </a:p>
        </p:txBody>
      </p:sp>
      <p:sp>
        <p:nvSpPr>
          <p:cNvPr id="14" name="Step 1"/>
          <p:cNvSpPr/>
          <p:nvPr/>
        </p:nvSpPr>
        <p:spPr>
          <a:xfrm>
            <a:off x="6591300" y="2038350"/>
            <a:ext cx="590550" cy="590550"/>
          </a:xfrm>
          <a:prstGeom prst="roundRect">
            <a:avLst>
              <a:gd name="adj" fmla="val 16129"/>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tep 1 number"/>
          <p:cNvSpPr txBox="1"/>
          <p:nvPr/>
        </p:nvSpPr>
        <p:spPr>
          <a:xfrm>
            <a:off x="6591300" y="2038350"/>
            <a:ext cx="590550" cy="590550"/>
          </a:xfrm>
          <a:prstGeom prst="rect">
            <a:avLst/>
          </a:prstGeom>
          <a:noFill/>
        </p:spPr>
        <p:txBody>
          <a:bodyPr wrap="square" lIns="0" tIns="0" rIns="0" bIns="0" anchor="ctr">
            <a:noAutofit/>
          </a:bodyPr>
          <a:lstStyle/>
          <a:p>
            <a:pPr algn="ctr">
              <a:lnSpc>
                <a:spcPct val="112000"/>
              </a:lnSpc>
            </a:pPr>
            <a:r>
              <a:rPr sz="2250" b="0" i="0">
                <a:solidFill>
                  <a:srgbClr val="FFFFFF"/>
                </a:solidFill>
                <a:latin typeface="Times New Roman"/>
              </a:rPr>
              <a:t>1</a:t>
            </a:r>
          </a:p>
        </p:txBody>
      </p:sp>
      <p:sp>
        <p:nvSpPr>
          <p:cNvPr id="16" name="Step 2"/>
          <p:cNvSpPr/>
          <p:nvPr/>
        </p:nvSpPr>
        <p:spPr>
          <a:xfrm>
            <a:off x="6591300" y="3486150"/>
            <a:ext cx="590550" cy="590550"/>
          </a:xfrm>
          <a:prstGeom prst="roundRect">
            <a:avLst>
              <a:gd name="adj" fmla="val 16129"/>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tep 2 number"/>
          <p:cNvSpPr txBox="1"/>
          <p:nvPr/>
        </p:nvSpPr>
        <p:spPr>
          <a:xfrm>
            <a:off x="6591300" y="3486150"/>
            <a:ext cx="590550" cy="590550"/>
          </a:xfrm>
          <a:prstGeom prst="rect">
            <a:avLst/>
          </a:prstGeom>
          <a:noFill/>
        </p:spPr>
        <p:txBody>
          <a:bodyPr wrap="square" lIns="0" tIns="0" rIns="0" bIns="0" anchor="ctr">
            <a:noAutofit/>
          </a:bodyPr>
          <a:lstStyle/>
          <a:p>
            <a:pPr algn="ctr">
              <a:lnSpc>
                <a:spcPct val="112000"/>
              </a:lnSpc>
            </a:pPr>
            <a:r>
              <a:rPr sz="2250" b="0" i="0">
                <a:solidFill>
                  <a:srgbClr val="FFFFFF"/>
                </a:solidFill>
                <a:latin typeface="Times New Roman"/>
              </a:rPr>
              <a:t>2</a:t>
            </a:r>
          </a:p>
        </p:txBody>
      </p:sp>
      <p:sp>
        <p:nvSpPr>
          <p:cNvPr id="18" name="Step 3"/>
          <p:cNvSpPr/>
          <p:nvPr/>
        </p:nvSpPr>
        <p:spPr>
          <a:xfrm>
            <a:off x="6591300" y="4762500"/>
            <a:ext cx="590550" cy="590550"/>
          </a:xfrm>
          <a:prstGeom prst="roundRect">
            <a:avLst>
              <a:gd name="adj" fmla="val 16129"/>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tep 3 number"/>
          <p:cNvSpPr txBox="1"/>
          <p:nvPr/>
        </p:nvSpPr>
        <p:spPr>
          <a:xfrm>
            <a:off x="6591300" y="4762500"/>
            <a:ext cx="590550" cy="590550"/>
          </a:xfrm>
          <a:prstGeom prst="rect">
            <a:avLst/>
          </a:prstGeom>
          <a:noFill/>
        </p:spPr>
        <p:txBody>
          <a:bodyPr wrap="square" lIns="0" tIns="0" rIns="0" bIns="0" anchor="ctr">
            <a:noAutofit/>
          </a:bodyPr>
          <a:lstStyle/>
          <a:p>
            <a:pPr algn="ctr">
              <a:lnSpc>
                <a:spcPct val="112000"/>
              </a:lnSpc>
            </a:pPr>
            <a:r>
              <a:rPr sz="2250" b="0" i="0">
                <a:solidFill>
                  <a:srgbClr val="FFFFFF"/>
                </a:solidFill>
                <a:latin typeface="Times New Roman"/>
              </a:rPr>
              <a:t>3</a:t>
            </a:r>
          </a:p>
        </p:txBody>
      </p:sp>
      <p:sp>
        <p:nvSpPr>
          <p:cNvPr id="20" name="Step 4"/>
          <p:cNvSpPr/>
          <p:nvPr/>
        </p:nvSpPr>
        <p:spPr>
          <a:xfrm>
            <a:off x="6591300" y="6096000"/>
            <a:ext cx="590550" cy="590550"/>
          </a:xfrm>
          <a:prstGeom prst="roundRect">
            <a:avLst>
              <a:gd name="adj" fmla="val 16129"/>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tep 4 number"/>
          <p:cNvSpPr txBox="1"/>
          <p:nvPr/>
        </p:nvSpPr>
        <p:spPr>
          <a:xfrm>
            <a:off x="6591300" y="6096000"/>
            <a:ext cx="590550" cy="590550"/>
          </a:xfrm>
          <a:prstGeom prst="rect">
            <a:avLst/>
          </a:prstGeom>
          <a:noFill/>
        </p:spPr>
        <p:txBody>
          <a:bodyPr wrap="square" lIns="0" tIns="0" rIns="0" bIns="0" anchor="ctr">
            <a:noAutofit/>
          </a:bodyPr>
          <a:lstStyle/>
          <a:p>
            <a:pPr algn="ctr">
              <a:lnSpc>
                <a:spcPct val="112000"/>
              </a:lnSpc>
            </a:pPr>
            <a:r>
              <a:rPr sz="2250" b="0" i="0">
                <a:solidFill>
                  <a:srgbClr val="FFFFFF"/>
                </a:solidFill>
                <a:latin typeface="Times New Roman"/>
              </a:rPr>
              <a:t>4</a:t>
            </a:r>
          </a:p>
        </p:txBody>
      </p:sp>
      <p:sp>
        <p:nvSpPr>
          <p:cNvPr id="22" name="Footer"/>
          <p:cNvSpPr txBox="1"/>
          <p:nvPr/>
        </p:nvSpPr>
        <p:spPr>
          <a:xfrm>
            <a:off x="552450" y="7296150"/>
            <a:ext cx="12611100" cy="476250"/>
          </a:xfrm>
          <a:prstGeom prst="rect">
            <a:avLst/>
          </a:prstGeom>
          <a:noFill/>
        </p:spPr>
        <p:txBody>
          <a:bodyPr wrap="square" lIns="0" tIns="0" rIns="0" bIns="0" anchor="t">
            <a:noAutofit/>
          </a:bodyPr>
          <a:lstStyle/>
          <a:p>
            <a:pPr algn="l">
              <a:lnSpc>
                <a:spcPct val="112000"/>
              </a:lnSpc>
            </a:pPr>
            <a:r>
              <a:rPr sz="1425" b="0" i="1">
                <a:solidFill>
                  <a:srgbClr val="8B5D52"/>
                </a:solidFill>
                <a:latin typeface="Times New Roman"/>
              </a:rPr>
              <a:t>Illustrative scenario based on this project's demo data; impact is a target to be validated.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BFA"/>
        </a:solidFill>
        <a:effectLst/>
      </p:bgPr>
    </p:bg>
    <p:spTree>
      <p:nvGrpSpPr>
        <p:cNvPr id="1" name=""/>
        <p:cNvGrpSpPr/>
        <p:nvPr/>
      </p:nvGrpSpPr>
      <p:grpSpPr>
        <a:xfrm>
          <a:off x="0" y="0"/>
          <a:ext cx="0" cy="0"/>
          <a:chOff x="0" y="0"/>
          <a:chExt cx="0" cy="0"/>
        </a:xfrm>
      </p:grpSpPr>
      <p:pic>
        <p:nvPicPr>
          <p:cNvPr id="2" name="College crest" descr="crest.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png"/>
          <p:cNvPicPr>
            <a:picLocks noChangeAspect="1"/>
          </p:cNvPicPr>
          <p:nvPr/>
        </p:nvPicPr>
        <p:blipFill>
          <a:blip r:embed="rId3"/>
          <a:stretch>
            <a:fillRect/>
          </a:stretch>
        </p:blipFill>
        <p:spPr>
          <a:xfrm>
            <a:off x="11639550" y="0"/>
            <a:ext cx="2076450" cy="1028700"/>
          </a:xfrm>
          <a:prstGeom prst="rect">
            <a:avLst/>
          </a:prstGeom>
        </p:spPr>
      </p:pic>
      <p:sp>
        <p:nvSpPr>
          <p:cNvPr id="4" name="Title"/>
          <p:cNvSpPr txBox="1"/>
          <p:nvPr/>
        </p:nvSpPr>
        <p:spPr>
          <a:xfrm>
            <a:off x="733425" y="1009650"/>
            <a:ext cx="10858500" cy="1047750"/>
          </a:xfrm>
          <a:prstGeom prst="rect">
            <a:avLst/>
          </a:prstGeom>
          <a:noFill/>
        </p:spPr>
        <p:txBody>
          <a:bodyPr wrap="square" lIns="0" tIns="0" rIns="0" bIns="0" anchor="t">
            <a:noAutofit/>
          </a:bodyPr>
          <a:lstStyle/>
          <a:p>
            <a:pPr algn="l">
              <a:lnSpc>
                <a:spcPct val="100000"/>
              </a:lnSpc>
            </a:pPr>
            <a:r>
              <a:rPr sz="3150" b="0" i="0">
                <a:solidFill>
                  <a:srgbClr val="8B5D52"/>
                </a:solidFill>
                <a:latin typeface="Times New Roman"/>
              </a:rPr>
              <a:t>Integration</a:t>
            </a:r>
            <a:r>
              <a:rPr sz="3150" b="0" i="0">
                <a:solidFill>
                  <a:srgbClr val="3F342E"/>
                </a:solidFill>
                <a:latin typeface="Times New Roman"/>
              </a:rPr>
              <a:t> Challenges: Balancing Elder Needs with Technical and Clinical Constraints</a:t>
            </a:r>
          </a:p>
        </p:txBody>
      </p:sp>
      <p:sp>
        <p:nvSpPr>
          <p:cNvPr id="5" name="Privacy &amp; Compliance"/>
          <p:cNvSpPr/>
          <p:nvPr/>
        </p:nvSpPr>
        <p:spPr>
          <a:xfrm>
            <a:off x="552450" y="2038350"/>
            <a:ext cx="4086225" cy="2247900"/>
          </a:xfrm>
          <a:prstGeom prst="roundRect">
            <a:avLst>
              <a:gd name="adj" fmla="val 5932"/>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050" y="2247900"/>
            <a:ext cx="533400" cy="53340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Lock" descr="icon_Lock_FFFFFF.png"/>
          <p:cNvPicPr>
            <a:picLocks noChangeAspect="1"/>
          </p:cNvPicPr>
          <p:nvPr/>
        </p:nvPicPr>
        <p:blipFill>
          <a:blip r:embed="rId4"/>
          <a:stretch>
            <a:fillRect/>
          </a:stretch>
        </p:blipFill>
        <p:spPr>
          <a:xfrm>
            <a:off x="919734" y="2386584"/>
            <a:ext cx="256032" cy="256032"/>
          </a:xfrm>
          <a:prstGeom prst="rect">
            <a:avLst/>
          </a:prstGeom>
        </p:spPr>
      </p:pic>
      <p:sp>
        <p:nvSpPr>
          <p:cNvPr id="8" name="Privacy &amp; Compliance title"/>
          <p:cNvSpPr txBox="1"/>
          <p:nvPr/>
        </p:nvSpPr>
        <p:spPr>
          <a:xfrm>
            <a:off x="1466850" y="2324100"/>
            <a:ext cx="3048000" cy="381000"/>
          </a:xfrm>
          <a:prstGeom prst="rect">
            <a:avLst/>
          </a:prstGeom>
          <a:noFill/>
        </p:spPr>
        <p:txBody>
          <a:bodyPr wrap="square" lIns="0" tIns="0" rIns="0" bIns="0" anchor="t">
            <a:noAutofit/>
          </a:bodyPr>
          <a:lstStyle/>
          <a:p>
            <a:pPr algn="l">
              <a:lnSpc>
                <a:spcPct val="112000"/>
              </a:lnSpc>
            </a:pPr>
            <a:r>
              <a:rPr sz="2250" b="0" i="0">
                <a:solidFill>
                  <a:srgbClr val="3F342E"/>
                </a:solidFill>
                <a:latin typeface="Times New Roman"/>
              </a:rPr>
              <a:t>Privacy &amp; Compliance</a:t>
            </a:r>
          </a:p>
        </p:txBody>
      </p:sp>
      <p:sp>
        <p:nvSpPr>
          <p:cNvPr id="9" name="Privacy &amp; Compliance text"/>
          <p:cNvSpPr txBox="1"/>
          <p:nvPr/>
        </p:nvSpPr>
        <p:spPr>
          <a:xfrm>
            <a:off x="781050" y="2952750"/>
            <a:ext cx="3667125" cy="1238250"/>
          </a:xfrm>
          <a:prstGeom prst="rect">
            <a:avLst/>
          </a:prstGeom>
          <a:noFill/>
        </p:spPr>
        <p:txBody>
          <a:bodyPr wrap="square" lIns="0" tIns="0" rIns="0" bIns="0" anchor="t">
            <a:noAutofit/>
          </a:bodyPr>
          <a:lstStyle/>
          <a:p>
            <a:pPr algn="l">
              <a:lnSpc>
                <a:spcPct val="112000"/>
              </a:lnSpc>
            </a:pPr>
            <a:r>
              <a:rPr sz="1500" b="0" i="0">
                <a:solidFill>
                  <a:srgbClr val="3F342E"/>
                </a:solidFill>
                <a:latin typeface="Times New Roman"/>
              </a:rPr>
              <a:t>Health data is highly sensitive. It needs consent, encryption and access logs in line with India's DPDP Act. Role-based access is in place; consent and audit features come next.</a:t>
            </a:r>
          </a:p>
        </p:txBody>
      </p:sp>
      <p:sp>
        <p:nvSpPr>
          <p:cNvPr id="10" name="Emergency Reliability"/>
          <p:cNvSpPr/>
          <p:nvPr/>
        </p:nvSpPr>
        <p:spPr>
          <a:xfrm>
            <a:off x="4848225" y="2038350"/>
            <a:ext cx="4086225" cy="2247900"/>
          </a:xfrm>
          <a:prstGeom prst="roundRect">
            <a:avLst>
              <a:gd name="adj" fmla="val 5932"/>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76825" y="2247900"/>
            <a:ext cx="533400" cy="53340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con Siren" descr="icon_Siren_FFFFFF.png"/>
          <p:cNvPicPr>
            <a:picLocks noChangeAspect="1"/>
          </p:cNvPicPr>
          <p:nvPr/>
        </p:nvPicPr>
        <p:blipFill>
          <a:blip r:embed="rId5"/>
          <a:stretch>
            <a:fillRect/>
          </a:stretch>
        </p:blipFill>
        <p:spPr>
          <a:xfrm>
            <a:off x="5215509" y="2386584"/>
            <a:ext cx="256032" cy="256032"/>
          </a:xfrm>
          <a:prstGeom prst="rect">
            <a:avLst/>
          </a:prstGeom>
        </p:spPr>
      </p:pic>
      <p:sp>
        <p:nvSpPr>
          <p:cNvPr id="13" name="Emergency Reliability title"/>
          <p:cNvSpPr txBox="1"/>
          <p:nvPr/>
        </p:nvSpPr>
        <p:spPr>
          <a:xfrm>
            <a:off x="5762625" y="2324100"/>
            <a:ext cx="3048000" cy="381000"/>
          </a:xfrm>
          <a:prstGeom prst="rect">
            <a:avLst/>
          </a:prstGeom>
          <a:noFill/>
        </p:spPr>
        <p:txBody>
          <a:bodyPr wrap="square" lIns="0" tIns="0" rIns="0" bIns="0" anchor="t">
            <a:noAutofit/>
          </a:bodyPr>
          <a:lstStyle/>
          <a:p>
            <a:pPr algn="l">
              <a:lnSpc>
                <a:spcPct val="112000"/>
              </a:lnSpc>
            </a:pPr>
            <a:r>
              <a:rPr sz="2250" b="0" i="0">
                <a:solidFill>
                  <a:srgbClr val="3F342E"/>
                </a:solidFill>
                <a:latin typeface="Times New Roman"/>
              </a:rPr>
              <a:t>Emergency Reliability</a:t>
            </a:r>
          </a:p>
        </p:txBody>
      </p:sp>
      <p:sp>
        <p:nvSpPr>
          <p:cNvPr id="14" name="Emergency Reliability text"/>
          <p:cNvSpPr txBox="1"/>
          <p:nvPr/>
        </p:nvSpPr>
        <p:spPr>
          <a:xfrm>
            <a:off x="5076825" y="2952750"/>
            <a:ext cx="3667125" cy="1238250"/>
          </a:xfrm>
          <a:prstGeom prst="rect">
            <a:avLst/>
          </a:prstGeom>
          <a:noFill/>
        </p:spPr>
        <p:txBody>
          <a:bodyPr wrap="square" lIns="0" tIns="0" rIns="0" bIns="0" anchor="t">
            <a:noAutofit/>
          </a:bodyPr>
          <a:lstStyle/>
          <a:p>
            <a:pPr algn="l">
              <a:lnSpc>
                <a:spcPct val="112000"/>
              </a:lnSpc>
            </a:pPr>
            <a:r>
              <a:rPr sz="1500" b="0" i="0">
                <a:solidFill>
                  <a:srgbClr val="3F342E"/>
                </a:solidFill>
                <a:latin typeface="Times New Roman"/>
              </a:rPr>
              <a:t>SOS must never stall. Alerts are in-app and push today; SMS and voice-call providers and a durable job queue are needed for production.</a:t>
            </a:r>
          </a:p>
        </p:txBody>
      </p:sp>
      <p:sp>
        <p:nvSpPr>
          <p:cNvPr id="15" name="Data &amp; Integration"/>
          <p:cNvSpPr/>
          <p:nvPr/>
        </p:nvSpPr>
        <p:spPr>
          <a:xfrm>
            <a:off x="552450" y="4495800"/>
            <a:ext cx="4086225" cy="2247900"/>
          </a:xfrm>
          <a:prstGeom prst="roundRect">
            <a:avLst>
              <a:gd name="adj" fmla="val 5932"/>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1050" y="4705350"/>
            <a:ext cx="533400" cy="53340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Icon Database" descr="icon_Database_FFFFFF.png"/>
          <p:cNvPicPr>
            <a:picLocks noChangeAspect="1"/>
          </p:cNvPicPr>
          <p:nvPr/>
        </p:nvPicPr>
        <p:blipFill>
          <a:blip r:embed="rId6"/>
          <a:stretch>
            <a:fillRect/>
          </a:stretch>
        </p:blipFill>
        <p:spPr>
          <a:xfrm>
            <a:off x="919734" y="4844034"/>
            <a:ext cx="256032" cy="256032"/>
          </a:xfrm>
          <a:prstGeom prst="rect">
            <a:avLst/>
          </a:prstGeom>
        </p:spPr>
      </p:pic>
      <p:sp>
        <p:nvSpPr>
          <p:cNvPr id="18" name="Data &amp; Integration title"/>
          <p:cNvSpPr txBox="1"/>
          <p:nvPr/>
        </p:nvSpPr>
        <p:spPr>
          <a:xfrm>
            <a:off x="1466850" y="4781550"/>
            <a:ext cx="3048000" cy="381000"/>
          </a:xfrm>
          <a:prstGeom prst="rect">
            <a:avLst/>
          </a:prstGeom>
          <a:noFill/>
        </p:spPr>
        <p:txBody>
          <a:bodyPr wrap="square" lIns="0" tIns="0" rIns="0" bIns="0" anchor="t">
            <a:noAutofit/>
          </a:bodyPr>
          <a:lstStyle/>
          <a:p>
            <a:pPr algn="l">
              <a:lnSpc>
                <a:spcPct val="112000"/>
              </a:lnSpc>
            </a:pPr>
            <a:r>
              <a:rPr sz="2250" b="0" i="0">
                <a:solidFill>
                  <a:srgbClr val="3F342E"/>
                </a:solidFill>
                <a:latin typeface="Times New Roman"/>
              </a:rPr>
              <a:t>Data &amp; Integration</a:t>
            </a:r>
          </a:p>
        </p:txBody>
      </p:sp>
      <p:sp>
        <p:nvSpPr>
          <p:cNvPr id="19" name="Data &amp; Integration text"/>
          <p:cNvSpPr txBox="1"/>
          <p:nvPr/>
        </p:nvSpPr>
        <p:spPr>
          <a:xfrm>
            <a:off x="781050" y="5410200"/>
            <a:ext cx="3667125" cy="1238250"/>
          </a:xfrm>
          <a:prstGeom prst="rect">
            <a:avLst/>
          </a:prstGeom>
          <a:noFill/>
        </p:spPr>
        <p:txBody>
          <a:bodyPr wrap="square" lIns="0" tIns="0" rIns="0" bIns="0" anchor="t">
            <a:noAutofit/>
          </a:bodyPr>
          <a:lstStyle/>
          <a:p>
            <a:pPr algn="l">
              <a:lnSpc>
                <a:spcPct val="112000"/>
              </a:lnSpc>
            </a:pPr>
            <a:r>
              <a:rPr sz="1500" b="0" i="0">
                <a:solidFill>
                  <a:srgbClr val="3F342E"/>
                </a:solidFill>
                <a:latin typeface="Times New Roman"/>
              </a:rPr>
              <a:t>Records come from elders, doctors, pharmacies and hospitals. One shared data model and clean APIs keep them consistent.</a:t>
            </a:r>
          </a:p>
        </p:txBody>
      </p:sp>
      <p:sp>
        <p:nvSpPr>
          <p:cNvPr id="20" name="Access &amp; Performance"/>
          <p:cNvSpPr/>
          <p:nvPr/>
        </p:nvSpPr>
        <p:spPr>
          <a:xfrm>
            <a:off x="4848225" y="4495800"/>
            <a:ext cx="4086225" cy="2247900"/>
          </a:xfrm>
          <a:prstGeom prst="roundRect">
            <a:avLst>
              <a:gd name="adj" fmla="val 5932"/>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076825" y="4705350"/>
            <a:ext cx="533400" cy="53340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Icon WifiHigh" descr="icon_WifiHigh_FFFFFF.png"/>
          <p:cNvPicPr>
            <a:picLocks noChangeAspect="1"/>
          </p:cNvPicPr>
          <p:nvPr/>
        </p:nvPicPr>
        <p:blipFill>
          <a:blip r:embed="rId7"/>
          <a:stretch>
            <a:fillRect/>
          </a:stretch>
        </p:blipFill>
        <p:spPr>
          <a:xfrm>
            <a:off x="5215509" y="4844034"/>
            <a:ext cx="256032" cy="256032"/>
          </a:xfrm>
          <a:prstGeom prst="rect">
            <a:avLst/>
          </a:prstGeom>
        </p:spPr>
      </p:pic>
      <p:sp>
        <p:nvSpPr>
          <p:cNvPr id="23" name="Access &amp; Performance title"/>
          <p:cNvSpPr txBox="1"/>
          <p:nvPr/>
        </p:nvSpPr>
        <p:spPr>
          <a:xfrm>
            <a:off x="5762625" y="4781550"/>
            <a:ext cx="3048000" cy="381000"/>
          </a:xfrm>
          <a:prstGeom prst="rect">
            <a:avLst/>
          </a:prstGeom>
          <a:noFill/>
        </p:spPr>
        <p:txBody>
          <a:bodyPr wrap="square" lIns="0" tIns="0" rIns="0" bIns="0" anchor="t">
            <a:noAutofit/>
          </a:bodyPr>
          <a:lstStyle/>
          <a:p>
            <a:pPr algn="l">
              <a:lnSpc>
                <a:spcPct val="112000"/>
              </a:lnSpc>
            </a:pPr>
            <a:r>
              <a:rPr sz="2250" b="0" i="0">
                <a:solidFill>
                  <a:srgbClr val="3F342E"/>
                </a:solidFill>
                <a:latin typeface="Times New Roman"/>
              </a:rPr>
              <a:t>Access &amp; Performance</a:t>
            </a:r>
          </a:p>
        </p:txBody>
      </p:sp>
      <p:sp>
        <p:nvSpPr>
          <p:cNvPr id="24" name="Access &amp; Performance text"/>
          <p:cNvSpPr txBox="1"/>
          <p:nvPr/>
        </p:nvSpPr>
        <p:spPr>
          <a:xfrm>
            <a:off x="5076825" y="5410200"/>
            <a:ext cx="3667125" cy="1238250"/>
          </a:xfrm>
          <a:prstGeom prst="rect">
            <a:avLst/>
          </a:prstGeom>
          <a:noFill/>
        </p:spPr>
        <p:txBody>
          <a:bodyPr wrap="square" lIns="0" tIns="0" rIns="0" bIns="0" anchor="t">
            <a:noAutofit/>
          </a:bodyPr>
          <a:lstStyle/>
          <a:p>
            <a:pPr algn="l">
              <a:lnSpc>
                <a:spcPct val="112000"/>
              </a:lnSpc>
            </a:pPr>
            <a:r>
              <a:rPr sz="1500" b="0" i="0">
                <a:solidFill>
                  <a:srgbClr val="3F342E"/>
                </a:solidFill>
                <a:latin typeface="Times New Roman"/>
              </a:rPr>
              <a:t>Older users often have older phones and slow networks. Large text and simple screens are prioritised; an installable app is next.</a:t>
            </a:r>
          </a:p>
        </p:txBody>
      </p:sp>
      <p:sp>
        <p:nvSpPr>
          <p:cNvPr id="25" name="Safety first"/>
          <p:cNvSpPr/>
          <p:nvPr/>
        </p:nvSpPr>
        <p:spPr>
          <a:xfrm>
            <a:off x="9296400" y="2038350"/>
            <a:ext cx="3867150" cy="4705350"/>
          </a:xfrm>
          <a:prstGeom prst="roundRect">
            <a:avLst>
              <a:gd name="adj" fmla="val 3448"/>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Icon shield" descr="icon_ShieldCheck_FFFFFF.png"/>
          <p:cNvPicPr>
            <a:picLocks noChangeAspect="1"/>
          </p:cNvPicPr>
          <p:nvPr/>
        </p:nvPicPr>
        <p:blipFill>
          <a:blip r:embed="rId8"/>
          <a:stretch>
            <a:fillRect/>
          </a:stretch>
        </p:blipFill>
        <p:spPr>
          <a:xfrm>
            <a:off x="10563225" y="2762250"/>
            <a:ext cx="1333500" cy="1333500"/>
          </a:xfrm>
          <a:prstGeom prst="rect">
            <a:avLst/>
          </a:prstGeom>
        </p:spPr>
      </p:pic>
      <p:sp>
        <p:nvSpPr>
          <p:cNvPr id="27" name="Safety first title"/>
          <p:cNvSpPr txBox="1"/>
          <p:nvPr/>
        </p:nvSpPr>
        <p:spPr>
          <a:xfrm>
            <a:off x="9296400" y="4362450"/>
            <a:ext cx="3867150" cy="476250"/>
          </a:xfrm>
          <a:prstGeom prst="rect">
            <a:avLst/>
          </a:prstGeom>
          <a:noFill/>
        </p:spPr>
        <p:txBody>
          <a:bodyPr wrap="square" lIns="0" tIns="0" rIns="0" bIns="0" anchor="t">
            <a:noAutofit/>
          </a:bodyPr>
          <a:lstStyle/>
          <a:p>
            <a:pPr algn="ctr">
              <a:lnSpc>
                <a:spcPct val="112000"/>
              </a:lnSpc>
            </a:pPr>
            <a:r>
              <a:rPr sz="2850" b="0" i="0">
                <a:solidFill>
                  <a:srgbClr val="FFFFFF"/>
                </a:solidFill>
                <a:latin typeface="Times New Roman"/>
              </a:rPr>
              <a:t>Safety first</a:t>
            </a:r>
          </a:p>
        </p:txBody>
      </p:sp>
      <p:sp>
        <p:nvSpPr>
          <p:cNvPr id="28" name="Safety first text"/>
          <p:cNvSpPr txBox="1"/>
          <p:nvPr/>
        </p:nvSpPr>
        <p:spPr>
          <a:xfrm>
            <a:off x="9620250" y="4953000"/>
            <a:ext cx="3219450" cy="1428750"/>
          </a:xfrm>
          <a:prstGeom prst="rect">
            <a:avLst/>
          </a:prstGeom>
          <a:noFill/>
        </p:spPr>
        <p:txBody>
          <a:bodyPr wrap="square" lIns="0" tIns="0" rIns="0" bIns="0" anchor="t">
            <a:noAutofit/>
          </a:bodyPr>
          <a:lstStyle/>
          <a:p>
            <a:pPr algn="ctr">
              <a:lnSpc>
                <a:spcPct val="115000"/>
              </a:lnSpc>
            </a:pPr>
            <a:r>
              <a:rPr sz="1725" b="0" i="0">
                <a:solidFill>
                  <a:srgbClr val="FFFFFF"/>
                </a:solidFill>
                <a:latin typeface="Times New Roman"/>
              </a:rPr>
              <a:t>ElderGuard alerts and informs; it does not diagnose or replace a doctor or emergency services.</a:t>
            </a:r>
          </a:p>
        </p:txBody>
      </p:sp>
      <p:sp>
        <p:nvSpPr>
          <p:cNvPr id="29" name="Footer"/>
          <p:cNvSpPr txBox="1"/>
          <p:nvPr/>
        </p:nvSpPr>
        <p:spPr>
          <a:xfrm>
            <a:off x="552450" y="6896100"/>
            <a:ext cx="12611100" cy="47625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Successful integration needs continuous dialogue between clinicians, designers and engineers. Constraints often spark creative solutions when teams collaborate early.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BFA"/>
        </a:solidFill>
        <a:effectLst/>
      </p:bgPr>
    </p:bg>
    <p:spTree>
      <p:nvGrpSpPr>
        <p:cNvPr id="1" name=""/>
        <p:cNvGrpSpPr/>
        <p:nvPr/>
      </p:nvGrpSpPr>
      <p:grpSpPr>
        <a:xfrm>
          <a:off x="0" y="0"/>
          <a:ext cx="0" cy="0"/>
          <a:chOff x="0" y="0"/>
          <a:chExt cx="0" cy="0"/>
        </a:xfrm>
      </p:grpSpPr>
      <p:pic>
        <p:nvPicPr>
          <p:cNvPr id="2" name="College crest" descr="crest.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png"/>
          <p:cNvPicPr>
            <a:picLocks noChangeAspect="1"/>
          </p:cNvPicPr>
          <p:nvPr/>
        </p:nvPicPr>
        <p:blipFill>
          <a:blip r:embed="rId3"/>
          <a:stretch>
            <a:fillRect/>
          </a:stretch>
        </p:blipFill>
        <p:spPr>
          <a:xfrm>
            <a:off x="11639550" y="0"/>
            <a:ext cx="2076450" cy="1028700"/>
          </a:xfrm>
          <a:prstGeom prst="rect">
            <a:avLst/>
          </a:prstGeom>
        </p:spPr>
      </p:pic>
      <p:sp>
        <p:nvSpPr>
          <p:cNvPr id="4" name="Title"/>
          <p:cNvSpPr txBox="1"/>
          <p:nvPr/>
        </p:nvSpPr>
        <p:spPr>
          <a:xfrm>
            <a:off x="733425" y="1009650"/>
            <a:ext cx="10858500" cy="1047750"/>
          </a:xfrm>
          <a:prstGeom prst="rect">
            <a:avLst/>
          </a:prstGeom>
          <a:noFill/>
        </p:spPr>
        <p:txBody>
          <a:bodyPr wrap="square" lIns="0" tIns="0" rIns="0" bIns="0" anchor="t">
            <a:noAutofit/>
          </a:bodyPr>
          <a:lstStyle/>
          <a:p>
            <a:pPr algn="l">
              <a:lnSpc>
                <a:spcPct val="100000"/>
              </a:lnSpc>
            </a:pPr>
            <a:r>
              <a:rPr sz="3150" b="0" i="0">
                <a:solidFill>
                  <a:srgbClr val="3F342E"/>
                </a:solidFill>
                <a:latin typeface="Times New Roman"/>
              </a:rPr>
              <a:t>Success Metrics: Measuring the Impact of ElderGuard</a:t>
            </a:r>
          </a:p>
        </p:txBody>
      </p:sp>
      <p:sp>
        <p:nvSpPr>
          <p:cNvPr id="5" name="Tests Passing value"/>
          <p:cNvSpPr txBox="1"/>
          <p:nvPr/>
        </p:nvSpPr>
        <p:spPr>
          <a:xfrm>
            <a:off x="552450" y="1962150"/>
            <a:ext cx="3152775" cy="857250"/>
          </a:xfrm>
          <a:prstGeom prst="rect">
            <a:avLst/>
          </a:prstGeom>
          <a:noFill/>
        </p:spPr>
        <p:txBody>
          <a:bodyPr wrap="square" lIns="0" tIns="0" rIns="0" bIns="0" anchor="t">
            <a:noAutofit/>
          </a:bodyPr>
          <a:lstStyle/>
          <a:p>
            <a:pPr algn="ctr">
              <a:lnSpc>
                <a:spcPct val="112000"/>
              </a:lnSpc>
            </a:pPr>
            <a:r>
              <a:rPr sz="5250" b="0" i="0">
                <a:solidFill>
                  <a:srgbClr val="8B5D52"/>
                </a:solidFill>
                <a:latin typeface="Times New Roman"/>
              </a:rPr>
              <a:t>22/22</a:t>
            </a:r>
          </a:p>
        </p:txBody>
      </p:sp>
      <p:sp>
        <p:nvSpPr>
          <p:cNvPr id="6" name="Tests Passing title"/>
          <p:cNvSpPr txBox="1"/>
          <p:nvPr/>
        </p:nvSpPr>
        <p:spPr>
          <a:xfrm>
            <a:off x="552450" y="2914650"/>
            <a:ext cx="3152775" cy="419100"/>
          </a:xfrm>
          <a:prstGeom prst="rect">
            <a:avLst/>
          </a:prstGeom>
          <a:noFill/>
        </p:spPr>
        <p:txBody>
          <a:bodyPr wrap="square" lIns="0" tIns="0" rIns="0" bIns="0" anchor="t">
            <a:noAutofit/>
          </a:bodyPr>
          <a:lstStyle/>
          <a:p>
            <a:pPr algn="ctr">
              <a:lnSpc>
                <a:spcPct val="112000"/>
              </a:lnSpc>
            </a:pPr>
            <a:r>
              <a:rPr sz="2400" b="0" i="0">
                <a:solidFill>
                  <a:srgbClr val="3F342E"/>
                </a:solidFill>
                <a:latin typeface="Times New Roman"/>
              </a:rPr>
              <a:t>Tests Passing</a:t>
            </a:r>
          </a:p>
        </p:txBody>
      </p:sp>
      <p:sp>
        <p:nvSpPr>
          <p:cNvPr id="7" name="Tests Passing text"/>
          <p:cNvSpPr txBox="1"/>
          <p:nvPr/>
        </p:nvSpPr>
        <p:spPr>
          <a:xfrm>
            <a:off x="762000" y="3429000"/>
            <a:ext cx="2733675" cy="1047750"/>
          </a:xfrm>
          <a:prstGeom prst="rect">
            <a:avLst/>
          </a:prstGeom>
          <a:noFill/>
        </p:spPr>
        <p:txBody>
          <a:bodyPr wrap="square" lIns="0" tIns="0" rIns="0" bIns="0" anchor="t">
            <a:noAutofit/>
          </a:bodyPr>
          <a:lstStyle/>
          <a:p>
            <a:pPr algn="ctr">
              <a:lnSpc>
                <a:spcPct val="112000"/>
              </a:lnSpc>
            </a:pPr>
            <a:r>
              <a:rPr sz="1575" b="0" i="0">
                <a:solidFill>
                  <a:srgbClr val="3F342E"/>
                </a:solidFill>
                <a:latin typeface="Times New Roman"/>
              </a:rPr>
              <a:t>Automated end-to-end checks across all five portals</a:t>
            </a:r>
          </a:p>
        </p:txBody>
      </p:sp>
      <p:sp>
        <p:nvSpPr>
          <p:cNvPr id="8" name="Accessibility Issues value"/>
          <p:cNvSpPr txBox="1"/>
          <p:nvPr/>
        </p:nvSpPr>
        <p:spPr>
          <a:xfrm>
            <a:off x="3705225" y="1962150"/>
            <a:ext cx="3152775" cy="857250"/>
          </a:xfrm>
          <a:prstGeom prst="rect">
            <a:avLst/>
          </a:prstGeom>
          <a:noFill/>
        </p:spPr>
        <p:txBody>
          <a:bodyPr wrap="square" lIns="0" tIns="0" rIns="0" bIns="0" anchor="t">
            <a:noAutofit/>
          </a:bodyPr>
          <a:lstStyle/>
          <a:p>
            <a:pPr algn="ctr">
              <a:lnSpc>
                <a:spcPct val="112000"/>
              </a:lnSpc>
            </a:pPr>
            <a:r>
              <a:rPr sz="5250" b="0" i="0">
                <a:solidFill>
                  <a:srgbClr val="8B5D52"/>
                </a:solidFill>
                <a:latin typeface="Times New Roman"/>
              </a:rPr>
              <a:t>0</a:t>
            </a:r>
          </a:p>
        </p:txBody>
      </p:sp>
      <p:sp>
        <p:nvSpPr>
          <p:cNvPr id="9" name="Accessibility Issues title"/>
          <p:cNvSpPr txBox="1"/>
          <p:nvPr/>
        </p:nvSpPr>
        <p:spPr>
          <a:xfrm>
            <a:off x="3705225" y="2914650"/>
            <a:ext cx="3152775" cy="419100"/>
          </a:xfrm>
          <a:prstGeom prst="rect">
            <a:avLst/>
          </a:prstGeom>
          <a:noFill/>
        </p:spPr>
        <p:txBody>
          <a:bodyPr wrap="square" lIns="0" tIns="0" rIns="0" bIns="0" anchor="t">
            <a:noAutofit/>
          </a:bodyPr>
          <a:lstStyle/>
          <a:p>
            <a:pPr algn="ctr">
              <a:lnSpc>
                <a:spcPct val="112000"/>
              </a:lnSpc>
            </a:pPr>
            <a:r>
              <a:rPr sz="2400" b="0" i="0">
                <a:solidFill>
                  <a:srgbClr val="3F342E"/>
                </a:solidFill>
                <a:latin typeface="Times New Roman"/>
              </a:rPr>
              <a:t>Accessibility Issues</a:t>
            </a:r>
          </a:p>
        </p:txBody>
      </p:sp>
      <p:sp>
        <p:nvSpPr>
          <p:cNvPr id="10" name="Accessibility Issues text"/>
          <p:cNvSpPr txBox="1"/>
          <p:nvPr/>
        </p:nvSpPr>
        <p:spPr>
          <a:xfrm>
            <a:off x="3914775" y="3429000"/>
            <a:ext cx="2733675" cy="1047750"/>
          </a:xfrm>
          <a:prstGeom prst="rect">
            <a:avLst/>
          </a:prstGeom>
          <a:noFill/>
        </p:spPr>
        <p:txBody>
          <a:bodyPr wrap="square" lIns="0" tIns="0" rIns="0" bIns="0" anchor="t">
            <a:noAutofit/>
          </a:bodyPr>
          <a:lstStyle/>
          <a:p>
            <a:pPr algn="ctr">
              <a:lnSpc>
                <a:spcPct val="112000"/>
              </a:lnSpc>
            </a:pPr>
            <a:r>
              <a:rPr sz="1575" b="0" i="0">
                <a:solidFill>
                  <a:srgbClr val="3F342E"/>
                </a:solidFill>
                <a:latin typeface="Times New Roman"/>
              </a:rPr>
              <a:t>Serious issues found by an axe audit (WCAG 2.1 A/AA) on every page</a:t>
            </a:r>
          </a:p>
        </p:txBody>
      </p:sp>
      <p:sp>
        <p:nvSpPr>
          <p:cNvPr id="11" name="Escalation Tiers value"/>
          <p:cNvSpPr txBox="1"/>
          <p:nvPr/>
        </p:nvSpPr>
        <p:spPr>
          <a:xfrm>
            <a:off x="6858000" y="1962150"/>
            <a:ext cx="3152775" cy="857250"/>
          </a:xfrm>
          <a:prstGeom prst="rect">
            <a:avLst/>
          </a:prstGeom>
          <a:noFill/>
        </p:spPr>
        <p:txBody>
          <a:bodyPr wrap="square" lIns="0" tIns="0" rIns="0" bIns="0" anchor="t">
            <a:noAutofit/>
          </a:bodyPr>
          <a:lstStyle/>
          <a:p>
            <a:pPr algn="ctr">
              <a:lnSpc>
                <a:spcPct val="112000"/>
              </a:lnSpc>
            </a:pPr>
            <a:r>
              <a:rPr sz="5250" b="0" i="0">
                <a:solidFill>
                  <a:srgbClr val="8B5D52"/>
                </a:solidFill>
                <a:latin typeface="Times New Roman"/>
              </a:rPr>
              <a:t>4</a:t>
            </a:r>
          </a:p>
        </p:txBody>
      </p:sp>
      <p:sp>
        <p:nvSpPr>
          <p:cNvPr id="12" name="Escalation Tiers title"/>
          <p:cNvSpPr txBox="1"/>
          <p:nvPr/>
        </p:nvSpPr>
        <p:spPr>
          <a:xfrm>
            <a:off x="6858000" y="2914650"/>
            <a:ext cx="3152775" cy="419100"/>
          </a:xfrm>
          <a:prstGeom prst="rect">
            <a:avLst/>
          </a:prstGeom>
          <a:noFill/>
        </p:spPr>
        <p:txBody>
          <a:bodyPr wrap="square" lIns="0" tIns="0" rIns="0" bIns="0" anchor="t">
            <a:noAutofit/>
          </a:bodyPr>
          <a:lstStyle/>
          <a:p>
            <a:pPr algn="ctr">
              <a:lnSpc>
                <a:spcPct val="112000"/>
              </a:lnSpc>
            </a:pPr>
            <a:r>
              <a:rPr sz="2400" b="0" i="0">
                <a:solidFill>
                  <a:srgbClr val="3F342E"/>
                </a:solidFill>
                <a:latin typeface="Times New Roman"/>
              </a:rPr>
              <a:t>Escalation Tiers</a:t>
            </a:r>
          </a:p>
        </p:txBody>
      </p:sp>
      <p:sp>
        <p:nvSpPr>
          <p:cNvPr id="13" name="Escalation Tiers text"/>
          <p:cNvSpPr txBox="1"/>
          <p:nvPr/>
        </p:nvSpPr>
        <p:spPr>
          <a:xfrm>
            <a:off x="7067550" y="3429000"/>
            <a:ext cx="2733675" cy="1047750"/>
          </a:xfrm>
          <a:prstGeom prst="rect">
            <a:avLst/>
          </a:prstGeom>
          <a:noFill/>
        </p:spPr>
        <p:txBody>
          <a:bodyPr wrap="square" lIns="0" tIns="0" rIns="0" bIns="0" anchor="t">
            <a:noAutofit/>
          </a:bodyPr>
          <a:lstStyle/>
          <a:p>
            <a:pPr algn="ctr">
              <a:lnSpc>
                <a:spcPct val="112000"/>
              </a:lnSpc>
            </a:pPr>
            <a:r>
              <a:rPr sz="1575" b="0" i="0">
                <a:solidFill>
                  <a:srgbClr val="3F342E"/>
                </a:solidFill>
                <a:latin typeface="Times New Roman"/>
              </a:rPr>
              <a:t>Caregiver, second contact, hospital, emergency services, verified in a timed drill</a:t>
            </a:r>
          </a:p>
        </p:txBody>
      </p:sp>
      <p:sp>
        <p:nvSpPr>
          <p:cNvPr id="14" name="Doses On Time value"/>
          <p:cNvSpPr txBox="1"/>
          <p:nvPr/>
        </p:nvSpPr>
        <p:spPr>
          <a:xfrm>
            <a:off x="10010775" y="1962150"/>
            <a:ext cx="3152775" cy="857250"/>
          </a:xfrm>
          <a:prstGeom prst="rect">
            <a:avLst/>
          </a:prstGeom>
          <a:noFill/>
        </p:spPr>
        <p:txBody>
          <a:bodyPr wrap="square" lIns="0" tIns="0" rIns="0" bIns="0" anchor="t">
            <a:noAutofit/>
          </a:bodyPr>
          <a:lstStyle/>
          <a:p>
            <a:pPr algn="ctr">
              <a:lnSpc>
                <a:spcPct val="112000"/>
              </a:lnSpc>
            </a:pPr>
            <a:r>
              <a:rPr sz="5250" b="0" i="0">
                <a:solidFill>
                  <a:srgbClr val="8B5D52"/>
                </a:solidFill>
                <a:latin typeface="Times New Roman"/>
              </a:rPr>
              <a:t>90%+</a:t>
            </a:r>
          </a:p>
        </p:txBody>
      </p:sp>
      <p:sp>
        <p:nvSpPr>
          <p:cNvPr id="15" name="Doses On Time title"/>
          <p:cNvSpPr txBox="1"/>
          <p:nvPr/>
        </p:nvSpPr>
        <p:spPr>
          <a:xfrm>
            <a:off x="10010775" y="2914650"/>
            <a:ext cx="3152775" cy="419100"/>
          </a:xfrm>
          <a:prstGeom prst="rect">
            <a:avLst/>
          </a:prstGeom>
          <a:noFill/>
        </p:spPr>
        <p:txBody>
          <a:bodyPr wrap="square" lIns="0" tIns="0" rIns="0" bIns="0" anchor="t">
            <a:noAutofit/>
          </a:bodyPr>
          <a:lstStyle/>
          <a:p>
            <a:pPr algn="ctr">
              <a:lnSpc>
                <a:spcPct val="112000"/>
              </a:lnSpc>
            </a:pPr>
            <a:r>
              <a:rPr sz="2400" b="0" i="0">
                <a:solidFill>
                  <a:srgbClr val="3F342E"/>
                </a:solidFill>
                <a:latin typeface="Times New Roman"/>
              </a:rPr>
              <a:t>Doses On Time</a:t>
            </a:r>
          </a:p>
        </p:txBody>
      </p:sp>
      <p:sp>
        <p:nvSpPr>
          <p:cNvPr id="16" name="Doses On Time text"/>
          <p:cNvSpPr txBox="1"/>
          <p:nvPr/>
        </p:nvSpPr>
        <p:spPr>
          <a:xfrm>
            <a:off x="10220325" y="3429000"/>
            <a:ext cx="2733675" cy="1047750"/>
          </a:xfrm>
          <a:prstGeom prst="rect">
            <a:avLst/>
          </a:prstGeom>
          <a:noFill/>
        </p:spPr>
        <p:txBody>
          <a:bodyPr wrap="square" lIns="0" tIns="0" rIns="0" bIns="0" anchor="t">
            <a:noAutofit/>
          </a:bodyPr>
          <a:lstStyle/>
          <a:p>
            <a:pPr algn="ctr">
              <a:lnSpc>
                <a:spcPct val="112000"/>
              </a:lnSpc>
            </a:pPr>
            <a:r>
              <a:rPr sz="1575" b="0" i="0">
                <a:solidFill>
                  <a:srgbClr val="3F342E"/>
                </a:solidFill>
                <a:latin typeface="Times New Roman"/>
              </a:rPr>
              <a:t>Pilot target for doses logged when due, to be validated</a:t>
            </a:r>
          </a:p>
        </p:txBody>
      </p:sp>
      <p:sp>
        <p:nvSpPr>
          <p:cNvPr id="17" name="Note"/>
          <p:cNvSpPr txBox="1"/>
          <p:nvPr/>
        </p:nvSpPr>
        <p:spPr>
          <a:xfrm>
            <a:off x="552450" y="4552950"/>
            <a:ext cx="12611100" cy="285750"/>
          </a:xfrm>
          <a:prstGeom prst="rect">
            <a:avLst/>
          </a:prstGeom>
          <a:noFill/>
        </p:spPr>
        <p:txBody>
          <a:bodyPr wrap="square" lIns="0" tIns="0" rIns="0" bIns="0" anchor="t">
            <a:noAutofit/>
          </a:bodyPr>
          <a:lstStyle/>
          <a:p>
            <a:pPr algn="l">
              <a:lnSpc>
                <a:spcPct val="112000"/>
              </a:lnSpc>
            </a:pPr>
            <a:r>
              <a:rPr sz="1500" b="0" i="1">
                <a:solidFill>
                  <a:srgbClr val="8B5D52"/>
                </a:solidFill>
                <a:latin typeface="Times New Roman"/>
              </a:rPr>
              <a:t>The first three are measured on the prototype; the last is a target for the pilot, to be validated with real users</a:t>
            </a:r>
          </a:p>
        </p:txBody>
      </p:sp>
      <p:sp>
        <p:nvSpPr>
          <p:cNvPr id="18" name="Qualitative heading"/>
          <p:cNvSpPr txBox="1"/>
          <p:nvPr/>
        </p:nvSpPr>
        <p:spPr>
          <a:xfrm>
            <a:off x="733425" y="5143500"/>
            <a:ext cx="8572500" cy="438150"/>
          </a:xfrm>
          <a:prstGeom prst="rect">
            <a:avLst/>
          </a:prstGeom>
          <a:noFill/>
        </p:spPr>
        <p:txBody>
          <a:bodyPr wrap="square" lIns="0" tIns="0" rIns="0" bIns="0" anchor="t">
            <a:noAutofit/>
          </a:bodyPr>
          <a:lstStyle/>
          <a:p>
            <a:pPr algn="l">
              <a:lnSpc>
                <a:spcPct val="112000"/>
              </a:lnSpc>
            </a:pPr>
            <a:r>
              <a:rPr sz="2550" b="0" i="0">
                <a:solidFill>
                  <a:srgbClr val="3F342E"/>
                </a:solidFill>
                <a:latin typeface="Times New Roman"/>
              </a:rPr>
              <a:t>Qualitative Indicators of Success</a:t>
            </a:r>
          </a:p>
        </p:txBody>
      </p:sp>
      <p:sp>
        <p:nvSpPr>
          <p:cNvPr id="19" name="Qualitative 1"/>
          <p:cNvSpPr txBox="1"/>
          <p:nvPr/>
        </p:nvSpPr>
        <p:spPr>
          <a:xfrm>
            <a:off x="733425" y="5695950"/>
            <a:ext cx="6096000" cy="1333500"/>
          </a:xfrm>
          <a:prstGeom prst="rect">
            <a:avLst/>
          </a:prstGeom>
          <a:noFill/>
        </p:spPr>
        <p:txBody>
          <a:bodyPr wrap="square" lIns="0" tIns="0" rIns="0" bIns="0" anchor="t">
            <a:noAutofit/>
          </a:bodyPr>
          <a:lstStyle/>
          <a:p>
            <a:pPr marL="247650" indent="-247650" algn="l">
              <a:lnSpc>
                <a:spcPct val="112000"/>
              </a:lnSpc>
              <a:spcAft>
                <a:spcPts val="400"/>
              </a:spcAft>
              <a:buFont typeface="Arial"/>
              <a:buChar char="•"/>
            </a:pPr>
            <a:r>
              <a:rPr sz="1650" b="0" i="0">
                <a:solidFill>
                  <a:srgbClr val="3F342E"/>
                </a:solidFill>
                <a:latin typeface="Times New Roman"/>
              </a:rPr>
              <a:t>Caregivers report less worry and fewer check-in calls</a:t>
            </a:r>
          </a:p>
          <a:p>
            <a:pPr marL="247650" indent="-247650" algn="l">
              <a:lnSpc>
                <a:spcPct val="112000"/>
              </a:lnSpc>
              <a:spcAft>
                <a:spcPts val="400"/>
              </a:spcAft>
              <a:buFont typeface="Arial"/>
              <a:buChar char="•"/>
            </a:pPr>
            <a:r>
              <a:rPr sz="1650" b="0" i="0">
                <a:solidFill>
                  <a:srgbClr val="3F342E"/>
                </a:solidFill>
                <a:latin typeface="Times New Roman"/>
              </a:rPr>
              <a:t>Elders use the SOS button and large-text mode without help</a:t>
            </a:r>
          </a:p>
        </p:txBody>
      </p:sp>
      <p:sp>
        <p:nvSpPr>
          <p:cNvPr id="20" name="Qualitative 2"/>
          <p:cNvSpPr txBox="1"/>
          <p:nvPr/>
        </p:nvSpPr>
        <p:spPr>
          <a:xfrm>
            <a:off x="7048500" y="5695950"/>
            <a:ext cx="6096000" cy="1333500"/>
          </a:xfrm>
          <a:prstGeom prst="rect">
            <a:avLst/>
          </a:prstGeom>
          <a:noFill/>
        </p:spPr>
        <p:txBody>
          <a:bodyPr wrap="square" lIns="0" tIns="0" rIns="0" bIns="0" anchor="t">
            <a:noAutofit/>
          </a:bodyPr>
          <a:lstStyle/>
          <a:p>
            <a:pPr marL="247650" indent="-247650" algn="l">
              <a:lnSpc>
                <a:spcPct val="112000"/>
              </a:lnSpc>
              <a:spcAft>
                <a:spcPts val="400"/>
              </a:spcAft>
              <a:buFont typeface="Arial"/>
              <a:buChar char="•"/>
            </a:pPr>
            <a:r>
              <a:rPr sz="1650" b="0" i="0">
                <a:solidFill>
                  <a:srgbClr val="3F342E"/>
                </a:solidFill>
                <a:latin typeface="Times New Roman"/>
              </a:rPr>
              <a:t>Doctors and pharmacies adopt the shared prescription flow</a:t>
            </a:r>
          </a:p>
          <a:p>
            <a:pPr marL="247650" indent="-247650" algn="l">
              <a:lnSpc>
                <a:spcPct val="112000"/>
              </a:lnSpc>
              <a:spcAft>
                <a:spcPts val="400"/>
              </a:spcAft>
              <a:buFont typeface="Arial"/>
              <a:buChar char="•"/>
            </a:pPr>
            <a:r>
              <a:rPr sz="1650" b="0" i="0">
                <a:solidFill>
                  <a:srgbClr val="3F342E"/>
                </a:solidFill>
                <a:latin typeface="Times New Roman"/>
              </a:rPr>
              <a:t>Shorter time from SOS to first response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BFA"/>
        </a:solidFill>
        <a:effectLst/>
      </p:bgPr>
    </p:bg>
    <p:spTree>
      <p:nvGrpSpPr>
        <p:cNvPr id="1" name=""/>
        <p:cNvGrpSpPr/>
        <p:nvPr/>
      </p:nvGrpSpPr>
      <p:grpSpPr>
        <a:xfrm>
          <a:off x="0" y="0"/>
          <a:ext cx="0" cy="0"/>
          <a:chOff x="0" y="0"/>
          <a:chExt cx="0" cy="0"/>
        </a:xfrm>
      </p:grpSpPr>
      <p:pic>
        <p:nvPicPr>
          <p:cNvPr id="2" name="College crest" descr="crest.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png"/>
          <p:cNvPicPr>
            <a:picLocks noChangeAspect="1"/>
          </p:cNvPicPr>
          <p:nvPr/>
        </p:nvPicPr>
        <p:blipFill>
          <a:blip r:embed="rId3"/>
          <a:stretch>
            <a:fillRect/>
          </a:stretch>
        </p:blipFill>
        <p:spPr>
          <a:xfrm>
            <a:off x="11639550" y="0"/>
            <a:ext cx="2076450" cy="1028700"/>
          </a:xfrm>
          <a:prstGeom prst="rect">
            <a:avLst/>
          </a:prstGeom>
        </p:spPr>
      </p:pic>
      <p:sp>
        <p:nvSpPr>
          <p:cNvPr id="4" name="Title"/>
          <p:cNvSpPr txBox="1"/>
          <p:nvPr/>
        </p:nvSpPr>
        <p:spPr>
          <a:xfrm>
            <a:off x="733425" y="1009650"/>
            <a:ext cx="10858500" cy="1047750"/>
          </a:xfrm>
          <a:prstGeom prst="rect">
            <a:avLst/>
          </a:prstGeom>
          <a:noFill/>
        </p:spPr>
        <p:txBody>
          <a:bodyPr wrap="square" lIns="0" tIns="0" rIns="0" bIns="0" anchor="t">
            <a:noAutofit/>
          </a:bodyPr>
          <a:lstStyle/>
          <a:p>
            <a:pPr algn="l">
              <a:lnSpc>
                <a:spcPct val="100000"/>
              </a:lnSpc>
            </a:pPr>
            <a:r>
              <a:rPr sz="3150" b="0" i="0">
                <a:solidFill>
                  <a:srgbClr val="8B5D52"/>
                </a:solidFill>
                <a:latin typeface="Times New Roman"/>
              </a:rPr>
              <a:t>Future Enhancements:</a:t>
            </a:r>
            <a:r>
              <a:rPr sz="3150" b="0" i="0">
                <a:solidFill>
                  <a:srgbClr val="3F342E"/>
                </a:solidFill>
                <a:latin typeface="Times New Roman"/>
              </a:rPr>
              <a:t> Expanding ElderGuard's Reach and Reliability</a:t>
            </a:r>
          </a:p>
        </p:txBody>
      </p:sp>
      <p:sp>
        <p:nvSpPr>
          <p:cNvPr id="5" name="SMS &amp; Voice-Call Alerts"/>
          <p:cNvSpPr/>
          <p:nvPr/>
        </p:nvSpPr>
        <p:spPr>
          <a:xfrm>
            <a:off x="552450" y="2038350"/>
            <a:ext cx="4064318" cy="2209800"/>
          </a:xfrm>
          <a:prstGeom prst="roundRect">
            <a:avLst>
              <a:gd name="adj" fmla="val 6034"/>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050" y="2247900"/>
            <a:ext cx="533400" cy="53340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Phone" descr="icon_Phone_FFFFFF.png"/>
          <p:cNvPicPr>
            <a:picLocks noChangeAspect="1"/>
          </p:cNvPicPr>
          <p:nvPr/>
        </p:nvPicPr>
        <p:blipFill>
          <a:blip r:embed="rId4"/>
          <a:stretch>
            <a:fillRect/>
          </a:stretch>
        </p:blipFill>
        <p:spPr>
          <a:xfrm>
            <a:off x="919734" y="2386584"/>
            <a:ext cx="256032" cy="256032"/>
          </a:xfrm>
          <a:prstGeom prst="rect">
            <a:avLst/>
          </a:prstGeom>
        </p:spPr>
      </p:pic>
      <p:sp>
        <p:nvSpPr>
          <p:cNvPr id="8" name="SMS &amp; Voice-Call Alerts phase"/>
          <p:cNvSpPr txBox="1"/>
          <p:nvPr/>
        </p:nvSpPr>
        <p:spPr>
          <a:xfrm>
            <a:off x="3245168" y="2266950"/>
            <a:ext cx="1143000" cy="247650"/>
          </a:xfrm>
          <a:prstGeom prst="rect">
            <a:avLst/>
          </a:prstGeom>
          <a:noFill/>
        </p:spPr>
        <p:txBody>
          <a:bodyPr wrap="square" lIns="0" tIns="0" rIns="0" bIns="0" anchor="t">
            <a:noAutofit/>
          </a:bodyPr>
          <a:lstStyle/>
          <a:p>
            <a:pPr algn="r">
              <a:lnSpc>
                <a:spcPct val="112000"/>
              </a:lnSpc>
            </a:pPr>
            <a:r>
              <a:rPr sz="1350" b="1" i="0">
                <a:solidFill>
                  <a:srgbClr val="8B5D52"/>
                </a:solidFill>
                <a:latin typeface="Times New Roman"/>
              </a:rPr>
              <a:t>Phase 1</a:t>
            </a:r>
          </a:p>
        </p:txBody>
      </p:sp>
      <p:sp>
        <p:nvSpPr>
          <p:cNvPr id="9" name="SMS &amp; Voice-Call Alerts title"/>
          <p:cNvSpPr txBox="1"/>
          <p:nvPr/>
        </p:nvSpPr>
        <p:spPr>
          <a:xfrm>
            <a:off x="781050" y="2971800"/>
            <a:ext cx="3619500" cy="419100"/>
          </a:xfrm>
          <a:prstGeom prst="rect">
            <a:avLst/>
          </a:prstGeom>
          <a:noFill/>
        </p:spPr>
        <p:txBody>
          <a:bodyPr wrap="square" lIns="0" tIns="0" rIns="0" bIns="0" anchor="t">
            <a:noAutofit/>
          </a:bodyPr>
          <a:lstStyle/>
          <a:p>
            <a:pPr algn="l">
              <a:lnSpc>
                <a:spcPct val="112000"/>
              </a:lnSpc>
            </a:pPr>
            <a:r>
              <a:rPr sz="2250" b="0" i="0">
                <a:solidFill>
                  <a:srgbClr val="3F342E"/>
                </a:solidFill>
                <a:latin typeface="Times New Roman"/>
              </a:rPr>
              <a:t>SMS &amp; Voice-Call Alerts</a:t>
            </a:r>
          </a:p>
        </p:txBody>
      </p:sp>
      <p:sp>
        <p:nvSpPr>
          <p:cNvPr id="10" name="SMS &amp; Voice-Call Alerts text"/>
          <p:cNvSpPr txBox="1"/>
          <p:nvPr/>
        </p:nvSpPr>
        <p:spPr>
          <a:xfrm>
            <a:off x="781050" y="3429000"/>
            <a:ext cx="3619500" cy="762000"/>
          </a:xfrm>
          <a:prstGeom prst="rect">
            <a:avLst/>
          </a:prstGeom>
          <a:noFill/>
        </p:spPr>
        <p:txBody>
          <a:bodyPr wrap="square" lIns="0" tIns="0" rIns="0" bIns="0" anchor="t">
            <a:noAutofit/>
          </a:bodyPr>
          <a:lstStyle/>
          <a:p>
            <a:pPr algn="l">
              <a:lnSpc>
                <a:spcPct val="112000"/>
              </a:lnSpc>
            </a:pPr>
            <a:r>
              <a:rPr sz="1500" b="0" i="0">
                <a:solidFill>
                  <a:srgbClr val="3F342E"/>
                </a:solidFill>
                <a:latin typeface="Times New Roman"/>
              </a:rPr>
              <a:t>Reach caregivers and hospitals even without the app, with delivery receipts and retries.</a:t>
            </a:r>
          </a:p>
        </p:txBody>
      </p:sp>
      <p:sp>
        <p:nvSpPr>
          <p:cNvPr id="11" name="Verified Doctors &amp; Hospitals"/>
          <p:cNvSpPr/>
          <p:nvPr/>
        </p:nvSpPr>
        <p:spPr>
          <a:xfrm>
            <a:off x="4826318" y="2038350"/>
            <a:ext cx="4064318" cy="2209800"/>
          </a:xfrm>
          <a:prstGeom prst="roundRect">
            <a:avLst>
              <a:gd name="adj" fmla="val 6034"/>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054918" y="2247900"/>
            <a:ext cx="533400" cy="53340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Icon SealCheck" descr="icon_SealCheck_FFFFFF.png"/>
          <p:cNvPicPr>
            <a:picLocks noChangeAspect="1"/>
          </p:cNvPicPr>
          <p:nvPr/>
        </p:nvPicPr>
        <p:blipFill>
          <a:blip r:embed="rId5"/>
          <a:stretch>
            <a:fillRect/>
          </a:stretch>
        </p:blipFill>
        <p:spPr>
          <a:xfrm>
            <a:off x="5193602" y="2386584"/>
            <a:ext cx="256032" cy="256032"/>
          </a:xfrm>
          <a:prstGeom prst="rect">
            <a:avLst/>
          </a:prstGeom>
        </p:spPr>
      </p:pic>
      <p:sp>
        <p:nvSpPr>
          <p:cNvPr id="14" name="Verified Doctors &amp; Hospitals phase"/>
          <p:cNvSpPr txBox="1"/>
          <p:nvPr/>
        </p:nvSpPr>
        <p:spPr>
          <a:xfrm>
            <a:off x="7519035" y="2266950"/>
            <a:ext cx="1143000" cy="247650"/>
          </a:xfrm>
          <a:prstGeom prst="rect">
            <a:avLst/>
          </a:prstGeom>
          <a:noFill/>
        </p:spPr>
        <p:txBody>
          <a:bodyPr wrap="square" lIns="0" tIns="0" rIns="0" bIns="0" anchor="t">
            <a:noAutofit/>
          </a:bodyPr>
          <a:lstStyle/>
          <a:p>
            <a:pPr algn="r">
              <a:lnSpc>
                <a:spcPct val="112000"/>
              </a:lnSpc>
            </a:pPr>
            <a:r>
              <a:rPr sz="1350" b="1" i="0">
                <a:solidFill>
                  <a:srgbClr val="8B5D52"/>
                </a:solidFill>
                <a:latin typeface="Times New Roman"/>
              </a:rPr>
              <a:t>Phase 1</a:t>
            </a:r>
          </a:p>
        </p:txBody>
      </p:sp>
      <p:sp>
        <p:nvSpPr>
          <p:cNvPr id="15" name="Verified Doctors &amp; Hospitals title"/>
          <p:cNvSpPr txBox="1"/>
          <p:nvPr/>
        </p:nvSpPr>
        <p:spPr>
          <a:xfrm>
            <a:off x="5054918" y="2971800"/>
            <a:ext cx="3619500" cy="419100"/>
          </a:xfrm>
          <a:prstGeom prst="rect">
            <a:avLst/>
          </a:prstGeom>
          <a:noFill/>
        </p:spPr>
        <p:txBody>
          <a:bodyPr wrap="square" lIns="0" tIns="0" rIns="0" bIns="0" anchor="t">
            <a:noAutofit/>
          </a:bodyPr>
          <a:lstStyle/>
          <a:p>
            <a:pPr algn="l">
              <a:lnSpc>
                <a:spcPct val="112000"/>
              </a:lnSpc>
            </a:pPr>
            <a:r>
              <a:rPr sz="2250" b="0" i="0">
                <a:solidFill>
                  <a:srgbClr val="3F342E"/>
                </a:solidFill>
                <a:latin typeface="Times New Roman"/>
              </a:rPr>
              <a:t>Verified Doctors &amp; Hospitals</a:t>
            </a:r>
          </a:p>
        </p:txBody>
      </p:sp>
      <p:sp>
        <p:nvSpPr>
          <p:cNvPr id="16" name="Verified Doctors &amp; Hospitals text"/>
          <p:cNvSpPr txBox="1"/>
          <p:nvPr/>
        </p:nvSpPr>
        <p:spPr>
          <a:xfrm>
            <a:off x="5054918" y="3429000"/>
            <a:ext cx="3619500" cy="762000"/>
          </a:xfrm>
          <a:prstGeom prst="rect">
            <a:avLst/>
          </a:prstGeom>
          <a:noFill/>
        </p:spPr>
        <p:txBody>
          <a:bodyPr wrap="square" lIns="0" tIns="0" rIns="0" bIns="0" anchor="t">
            <a:noAutofit/>
          </a:bodyPr>
          <a:lstStyle/>
          <a:p>
            <a:pPr algn="l">
              <a:lnSpc>
                <a:spcPct val="112000"/>
              </a:lnSpc>
            </a:pPr>
            <a:r>
              <a:rPr sz="1500" b="0" i="0">
                <a:solidFill>
                  <a:srgbClr val="3F342E"/>
                </a:solidFill>
                <a:latin typeface="Times New Roman"/>
              </a:rPr>
              <a:t>Licence checks before a clinical account can issue prescriptions.</a:t>
            </a:r>
          </a:p>
        </p:txBody>
      </p:sp>
      <p:sp>
        <p:nvSpPr>
          <p:cNvPr id="17" name="Multilingual Voice Assistant"/>
          <p:cNvSpPr/>
          <p:nvPr/>
        </p:nvSpPr>
        <p:spPr>
          <a:xfrm>
            <a:off x="9100185" y="2038350"/>
            <a:ext cx="4064318" cy="2209800"/>
          </a:xfrm>
          <a:prstGeom prst="roundRect">
            <a:avLst>
              <a:gd name="adj" fmla="val 6034"/>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328785" y="2247900"/>
            <a:ext cx="533400" cy="53340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Icon Microphone" descr="icon_Microphone_FFFFFF.png"/>
          <p:cNvPicPr>
            <a:picLocks noChangeAspect="1"/>
          </p:cNvPicPr>
          <p:nvPr/>
        </p:nvPicPr>
        <p:blipFill>
          <a:blip r:embed="rId6"/>
          <a:stretch>
            <a:fillRect/>
          </a:stretch>
        </p:blipFill>
        <p:spPr>
          <a:xfrm>
            <a:off x="9467469" y="2386584"/>
            <a:ext cx="256032" cy="256032"/>
          </a:xfrm>
          <a:prstGeom prst="rect">
            <a:avLst/>
          </a:prstGeom>
        </p:spPr>
      </p:pic>
      <p:sp>
        <p:nvSpPr>
          <p:cNvPr id="20" name="Multilingual Voice Assistant phase"/>
          <p:cNvSpPr txBox="1"/>
          <p:nvPr/>
        </p:nvSpPr>
        <p:spPr>
          <a:xfrm>
            <a:off x="11792902" y="2266950"/>
            <a:ext cx="1143000" cy="247650"/>
          </a:xfrm>
          <a:prstGeom prst="rect">
            <a:avLst/>
          </a:prstGeom>
          <a:noFill/>
        </p:spPr>
        <p:txBody>
          <a:bodyPr wrap="square" lIns="0" tIns="0" rIns="0" bIns="0" anchor="t">
            <a:noAutofit/>
          </a:bodyPr>
          <a:lstStyle/>
          <a:p>
            <a:pPr algn="r">
              <a:lnSpc>
                <a:spcPct val="112000"/>
              </a:lnSpc>
            </a:pPr>
            <a:r>
              <a:rPr sz="1350" b="1" i="0">
                <a:solidFill>
                  <a:srgbClr val="8B5D52"/>
                </a:solidFill>
                <a:latin typeface="Times New Roman"/>
              </a:rPr>
              <a:t>Phase 2</a:t>
            </a:r>
          </a:p>
        </p:txBody>
      </p:sp>
      <p:sp>
        <p:nvSpPr>
          <p:cNvPr id="21" name="Multilingual Voice Assistant title"/>
          <p:cNvSpPr txBox="1"/>
          <p:nvPr/>
        </p:nvSpPr>
        <p:spPr>
          <a:xfrm>
            <a:off x="9328785" y="2971800"/>
            <a:ext cx="3619500" cy="419100"/>
          </a:xfrm>
          <a:prstGeom prst="rect">
            <a:avLst/>
          </a:prstGeom>
          <a:noFill/>
        </p:spPr>
        <p:txBody>
          <a:bodyPr wrap="square" lIns="0" tIns="0" rIns="0" bIns="0" anchor="t">
            <a:noAutofit/>
          </a:bodyPr>
          <a:lstStyle/>
          <a:p>
            <a:pPr algn="l">
              <a:lnSpc>
                <a:spcPct val="112000"/>
              </a:lnSpc>
            </a:pPr>
            <a:r>
              <a:rPr sz="2250" b="0" i="0">
                <a:solidFill>
                  <a:srgbClr val="3F342E"/>
                </a:solidFill>
                <a:latin typeface="Times New Roman"/>
              </a:rPr>
              <a:t>Multilingual Voice Assistant</a:t>
            </a:r>
          </a:p>
        </p:txBody>
      </p:sp>
      <p:sp>
        <p:nvSpPr>
          <p:cNvPr id="22" name="Multilingual Voice Assistant text"/>
          <p:cNvSpPr txBox="1"/>
          <p:nvPr/>
        </p:nvSpPr>
        <p:spPr>
          <a:xfrm>
            <a:off x="9328785" y="3429000"/>
            <a:ext cx="3619500" cy="762000"/>
          </a:xfrm>
          <a:prstGeom prst="rect">
            <a:avLst/>
          </a:prstGeom>
          <a:noFill/>
        </p:spPr>
        <p:txBody>
          <a:bodyPr wrap="square" lIns="0" tIns="0" rIns="0" bIns="0" anchor="t">
            <a:noAutofit/>
          </a:bodyPr>
          <a:lstStyle/>
          <a:p>
            <a:pPr algn="l">
              <a:lnSpc>
                <a:spcPct val="112000"/>
              </a:lnSpc>
            </a:pPr>
            <a:r>
              <a:rPr sz="1500" b="0" i="0">
                <a:solidFill>
                  <a:srgbClr val="3F342E"/>
                </a:solidFill>
                <a:latin typeface="Times New Roman"/>
              </a:rPr>
              <a:t>Speak and listen in Tamil, Hindi and other regional languages.</a:t>
            </a:r>
          </a:p>
        </p:txBody>
      </p:sp>
      <p:sp>
        <p:nvSpPr>
          <p:cNvPr id="23" name="Installable Mobile App"/>
          <p:cNvSpPr/>
          <p:nvPr/>
        </p:nvSpPr>
        <p:spPr>
          <a:xfrm>
            <a:off x="552450" y="4457700"/>
            <a:ext cx="4064318" cy="2209800"/>
          </a:xfrm>
          <a:prstGeom prst="roundRect">
            <a:avLst>
              <a:gd name="adj" fmla="val 6034"/>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81050" y="4667250"/>
            <a:ext cx="533400" cy="53340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Icon DeviceMobile" descr="icon_DeviceMobile_FFFFFF.png"/>
          <p:cNvPicPr>
            <a:picLocks noChangeAspect="1"/>
          </p:cNvPicPr>
          <p:nvPr/>
        </p:nvPicPr>
        <p:blipFill>
          <a:blip r:embed="rId7"/>
          <a:stretch>
            <a:fillRect/>
          </a:stretch>
        </p:blipFill>
        <p:spPr>
          <a:xfrm>
            <a:off x="919734" y="4805934"/>
            <a:ext cx="256032" cy="256032"/>
          </a:xfrm>
          <a:prstGeom prst="rect">
            <a:avLst/>
          </a:prstGeom>
        </p:spPr>
      </p:pic>
      <p:sp>
        <p:nvSpPr>
          <p:cNvPr id="26" name="Installable Mobile App phase"/>
          <p:cNvSpPr txBox="1"/>
          <p:nvPr/>
        </p:nvSpPr>
        <p:spPr>
          <a:xfrm>
            <a:off x="3245168" y="4686300"/>
            <a:ext cx="1143000" cy="247650"/>
          </a:xfrm>
          <a:prstGeom prst="rect">
            <a:avLst/>
          </a:prstGeom>
          <a:noFill/>
        </p:spPr>
        <p:txBody>
          <a:bodyPr wrap="square" lIns="0" tIns="0" rIns="0" bIns="0" anchor="t">
            <a:noAutofit/>
          </a:bodyPr>
          <a:lstStyle/>
          <a:p>
            <a:pPr algn="r">
              <a:lnSpc>
                <a:spcPct val="112000"/>
              </a:lnSpc>
            </a:pPr>
            <a:r>
              <a:rPr sz="1350" b="1" i="0">
                <a:solidFill>
                  <a:srgbClr val="8B5D52"/>
                </a:solidFill>
                <a:latin typeface="Times New Roman"/>
              </a:rPr>
              <a:t>Phase 2</a:t>
            </a:r>
          </a:p>
        </p:txBody>
      </p:sp>
      <p:sp>
        <p:nvSpPr>
          <p:cNvPr id="27" name="Installable Mobile App title"/>
          <p:cNvSpPr txBox="1"/>
          <p:nvPr/>
        </p:nvSpPr>
        <p:spPr>
          <a:xfrm>
            <a:off x="781050" y="5391150"/>
            <a:ext cx="3619500" cy="419100"/>
          </a:xfrm>
          <a:prstGeom prst="rect">
            <a:avLst/>
          </a:prstGeom>
          <a:noFill/>
        </p:spPr>
        <p:txBody>
          <a:bodyPr wrap="square" lIns="0" tIns="0" rIns="0" bIns="0" anchor="t">
            <a:noAutofit/>
          </a:bodyPr>
          <a:lstStyle/>
          <a:p>
            <a:pPr algn="l">
              <a:lnSpc>
                <a:spcPct val="112000"/>
              </a:lnSpc>
            </a:pPr>
            <a:r>
              <a:rPr sz="2250" b="0" i="0">
                <a:solidFill>
                  <a:srgbClr val="3F342E"/>
                </a:solidFill>
                <a:latin typeface="Times New Roman"/>
              </a:rPr>
              <a:t>Installable Mobile App</a:t>
            </a:r>
          </a:p>
        </p:txBody>
      </p:sp>
      <p:sp>
        <p:nvSpPr>
          <p:cNvPr id="28" name="Installable Mobile App text"/>
          <p:cNvSpPr txBox="1"/>
          <p:nvPr/>
        </p:nvSpPr>
        <p:spPr>
          <a:xfrm>
            <a:off x="781050" y="5848350"/>
            <a:ext cx="3619500" cy="762000"/>
          </a:xfrm>
          <a:prstGeom prst="rect">
            <a:avLst/>
          </a:prstGeom>
          <a:noFill/>
        </p:spPr>
        <p:txBody>
          <a:bodyPr wrap="square" lIns="0" tIns="0" rIns="0" bIns="0" anchor="t">
            <a:noAutofit/>
          </a:bodyPr>
          <a:lstStyle/>
          <a:p>
            <a:pPr algn="l">
              <a:lnSpc>
                <a:spcPct val="112000"/>
              </a:lnSpc>
            </a:pPr>
            <a:r>
              <a:rPr sz="1500" b="0" i="0">
                <a:solidFill>
                  <a:srgbClr val="3F342E"/>
                </a:solidFill>
                <a:latin typeface="Times New Roman"/>
              </a:rPr>
              <a:t>Push notifications, offline mode and an always-ready SOS button.</a:t>
            </a:r>
          </a:p>
        </p:txBody>
      </p:sp>
      <p:sp>
        <p:nvSpPr>
          <p:cNvPr id="29" name="Wearable Integration"/>
          <p:cNvSpPr/>
          <p:nvPr/>
        </p:nvSpPr>
        <p:spPr>
          <a:xfrm>
            <a:off x="4826318" y="4457700"/>
            <a:ext cx="4064318" cy="2209800"/>
          </a:xfrm>
          <a:prstGeom prst="roundRect">
            <a:avLst>
              <a:gd name="adj" fmla="val 6034"/>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054918" y="4667250"/>
            <a:ext cx="533400" cy="53340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Icon Watch" descr="icon_Watch_FFFFFF.png"/>
          <p:cNvPicPr>
            <a:picLocks noChangeAspect="1"/>
          </p:cNvPicPr>
          <p:nvPr/>
        </p:nvPicPr>
        <p:blipFill>
          <a:blip r:embed="rId8"/>
          <a:stretch>
            <a:fillRect/>
          </a:stretch>
        </p:blipFill>
        <p:spPr>
          <a:xfrm>
            <a:off x="5193602" y="4805934"/>
            <a:ext cx="256032" cy="256032"/>
          </a:xfrm>
          <a:prstGeom prst="rect">
            <a:avLst/>
          </a:prstGeom>
        </p:spPr>
      </p:pic>
      <p:sp>
        <p:nvSpPr>
          <p:cNvPr id="32" name="Wearable Integration phase"/>
          <p:cNvSpPr txBox="1"/>
          <p:nvPr/>
        </p:nvSpPr>
        <p:spPr>
          <a:xfrm>
            <a:off x="7519035" y="4686300"/>
            <a:ext cx="1143000" cy="247650"/>
          </a:xfrm>
          <a:prstGeom prst="rect">
            <a:avLst/>
          </a:prstGeom>
          <a:noFill/>
        </p:spPr>
        <p:txBody>
          <a:bodyPr wrap="square" lIns="0" tIns="0" rIns="0" bIns="0" anchor="t">
            <a:noAutofit/>
          </a:bodyPr>
          <a:lstStyle/>
          <a:p>
            <a:pPr algn="r">
              <a:lnSpc>
                <a:spcPct val="112000"/>
              </a:lnSpc>
            </a:pPr>
            <a:r>
              <a:rPr sz="1350" b="1" i="0">
                <a:solidFill>
                  <a:srgbClr val="8B5D52"/>
                </a:solidFill>
                <a:latin typeface="Times New Roman"/>
              </a:rPr>
              <a:t>Phase 3</a:t>
            </a:r>
          </a:p>
        </p:txBody>
      </p:sp>
      <p:sp>
        <p:nvSpPr>
          <p:cNvPr id="33" name="Wearable Integration title"/>
          <p:cNvSpPr txBox="1"/>
          <p:nvPr/>
        </p:nvSpPr>
        <p:spPr>
          <a:xfrm>
            <a:off x="5054918" y="5391150"/>
            <a:ext cx="3619500" cy="419100"/>
          </a:xfrm>
          <a:prstGeom prst="rect">
            <a:avLst/>
          </a:prstGeom>
          <a:noFill/>
        </p:spPr>
        <p:txBody>
          <a:bodyPr wrap="square" lIns="0" tIns="0" rIns="0" bIns="0" anchor="t">
            <a:noAutofit/>
          </a:bodyPr>
          <a:lstStyle/>
          <a:p>
            <a:pPr algn="l">
              <a:lnSpc>
                <a:spcPct val="112000"/>
              </a:lnSpc>
            </a:pPr>
            <a:r>
              <a:rPr sz="2250" b="0" i="0">
                <a:solidFill>
                  <a:srgbClr val="3F342E"/>
                </a:solidFill>
                <a:latin typeface="Times New Roman"/>
              </a:rPr>
              <a:t>Wearable Integration</a:t>
            </a:r>
          </a:p>
        </p:txBody>
      </p:sp>
      <p:sp>
        <p:nvSpPr>
          <p:cNvPr id="34" name="Wearable Integration text"/>
          <p:cNvSpPr txBox="1"/>
          <p:nvPr/>
        </p:nvSpPr>
        <p:spPr>
          <a:xfrm>
            <a:off x="5054918" y="5848350"/>
            <a:ext cx="3619500" cy="762000"/>
          </a:xfrm>
          <a:prstGeom prst="rect">
            <a:avLst/>
          </a:prstGeom>
          <a:noFill/>
        </p:spPr>
        <p:txBody>
          <a:bodyPr wrap="square" lIns="0" tIns="0" rIns="0" bIns="0" anchor="t">
            <a:noAutofit/>
          </a:bodyPr>
          <a:lstStyle/>
          <a:p>
            <a:pPr algn="l">
              <a:lnSpc>
                <a:spcPct val="112000"/>
              </a:lnSpc>
            </a:pPr>
            <a:r>
              <a:rPr sz="1500" b="0" i="0">
                <a:solidFill>
                  <a:srgbClr val="3F342E"/>
                </a:solidFill>
                <a:latin typeface="Times New Roman"/>
              </a:rPr>
              <a:t>Read heart rate and blood pressure, and detect falls, from smart watches.</a:t>
            </a:r>
          </a:p>
        </p:txBody>
      </p:sp>
      <p:sp>
        <p:nvSpPr>
          <p:cNvPr id="35" name="EHR &amp; ABDM Integration"/>
          <p:cNvSpPr/>
          <p:nvPr/>
        </p:nvSpPr>
        <p:spPr>
          <a:xfrm>
            <a:off x="9100185" y="4457700"/>
            <a:ext cx="4064318" cy="2209800"/>
          </a:xfrm>
          <a:prstGeom prst="roundRect">
            <a:avLst>
              <a:gd name="adj" fmla="val 6034"/>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328785" y="4667250"/>
            <a:ext cx="533400" cy="53340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Icon Link" descr="icon_Link_FFFFFF.png"/>
          <p:cNvPicPr>
            <a:picLocks noChangeAspect="1"/>
          </p:cNvPicPr>
          <p:nvPr/>
        </p:nvPicPr>
        <p:blipFill>
          <a:blip r:embed="rId9"/>
          <a:stretch>
            <a:fillRect/>
          </a:stretch>
        </p:blipFill>
        <p:spPr>
          <a:xfrm>
            <a:off x="9467469" y="4805934"/>
            <a:ext cx="256032" cy="256032"/>
          </a:xfrm>
          <a:prstGeom prst="rect">
            <a:avLst/>
          </a:prstGeom>
        </p:spPr>
      </p:pic>
      <p:sp>
        <p:nvSpPr>
          <p:cNvPr id="38" name="EHR &amp; ABDM Integration phase"/>
          <p:cNvSpPr txBox="1"/>
          <p:nvPr/>
        </p:nvSpPr>
        <p:spPr>
          <a:xfrm>
            <a:off x="11792902" y="4686300"/>
            <a:ext cx="1143000" cy="247650"/>
          </a:xfrm>
          <a:prstGeom prst="rect">
            <a:avLst/>
          </a:prstGeom>
          <a:noFill/>
        </p:spPr>
        <p:txBody>
          <a:bodyPr wrap="square" lIns="0" tIns="0" rIns="0" bIns="0" anchor="t">
            <a:noAutofit/>
          </a:bodyPr>
          <a:lstStyle/>
          <a:p>
            <a:pPr algn="r">
              <a:lnSpc>
                <a:spcPct val="112000"/>
              </a:lnSpc>
            </a:pPr>
            <a:r>
              <a:rPr sz="1350" b="1" i="0">
                <a:solidFill>
                  <a:srgbClr val="8B5D52"/>
                </a:solidFill>
                <a:latin typeface="Times New Roman"/>
              </a:rPr>
              <a:t>Phase 3</a:t>
            </a:r>
          </a:p>
        </p:txBody>
      </p:sp>
      <p:sp>
        <p:nvSpPr>
          <p:cNvPr id="39" name="EHR &amp; ABDM Integration title"/>
          <p:cNvSpPr txBox="1"/>
          <p:nvPr/>
        </p:nvSpPr>
        <p:spPr>
          <a:xfrm>
            <a:off x="9328785" y="5391150"/>
            <a:ext cx="3619500" cy="419100"/>
          </a:xfrm>
          <a:prstGeom prst="rect">
            <a:avLst/>
          </a:prstGeom>
          <a:noFill/>
        </p:spPr>
        <p:txBody>
          <a:bodyPr wrap="square" lIns="0" tIns="0" rIns="0" bIns="0" anchor="t">
            <a:noAutofit/>
          </a:bodyPr>
          <a:lstStyle/>
          <a:p>
            <a:pPr algn="l">
              <a:lnSpc>
                <a:spcPct val="112000"/>
              </a:lnSpc>
            </a:pPr>
            <a:r>
              <a:rPr sz="2250" b="0" i="0">
                <a:solidFill>
                  <a:srgbClr val="3F342E"/>
                </a:solidFill>
                <a:latin typeface="Times New Roman"/>
              </a:rPr>
              <a:t>EHR &amp; ABDM Integration</a:t>
            </a:r>
          </a:p>
        </p:txBody>
      </p:sp>
      <p:sp>
        <p:nvSpPr>
          <p:cNvPr id="40" name="EHR &amp; ABDM Integration text"/>
          <p:cNvSpPr txBox="1"/>
          <p:nvPr/>
        </p:nvSpPr>
        <p:spPr>
          <a:xfrm>
            <a:off x="9328785" y="5848350"/>
            <a:ext cx="3619500" cy="762000"/>
          </a:xfrm>
          <a:prstGeom prst="rect">
            <a:avLst/>
          </a:prstGeom>
          <a:noFill/>
        </p:spPr>
        <p:txBody>
          <a:bodyPr wrap="square" lIns="0" tIns="0" rIns="0" bIns="0" anchor="t">
            <a:noAutofit/>
          </a:bodyPr>
          <a:lstStyle/>
          <a:p>
            <a:pPr algn="l">
              <a:lnSpc>
                <a:spcPct val="112000"/>
              </a:lnSpc>
            </a:pPr>
            <a:r>
              <a:rPr sz="1500" b="0" i="0">
                <a:solidFill>
                  <a:srgbClr val="3F342E"/>
                </a:solidFill>
                <a:latin typeface="Times New Roman"/>
              </a:rPr>
              <a:t>Pull records securely from hospitals and ABHA health IDs, with consent.</a:t>
            </a:r>
          </a:p>
        </p:txBody>
      </p:sp>
      <p:sp>
        <p:nvSpPr>
          <p:cNvPr id="41" name="Footer"/>
          <p:cNvSpPr txBox="1"/>
          <p:nvPr/>
        </p:nvSpPr>
        <p:spPr>
          <a:xfrm>
            <a:off x="552450" y="7162800"/>
            <a:ext cx="12611100" cy="476250"/>
          </a:xfrm>
          <a:prstGeom prst="rect">
            <a:avLst/>
          </a:prstGeom>
          <a:noFill/>
        </p:spPr>
        <p:txBody>
          <a:bodyPr wrap="square" lIns="0" tIns="0" rIns="0" bIns="0" anchor="t">
            <a:noAutofit/>
          </a:bodyPr>
          <a:lstStyle/>
          <a:p>
            <a:pPr algn="l">
              <a:lnSpc>
                <a:spcPct val="112000"/>
              </a:lnSpc>
            </a:pPr>
            <a:r>
              <a:rPr sz="1500" b="0" i="1">
                <a:solidFill>
                  <a:srgbClr val="8B5D52"/>
                </a:solidFill>
                <a:latin typeface="Times New Roman"/>
              </a:rPr>
              <a:t>Roadmap: Phase 1 reliable alerts and trusted accounts → Phase 2 voice and mobile → Phase 3 wearables and health-record integration.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BFA"/>
        </a:solidFill>
        <a:effectLst/>
      </p:bgPr>
    </p:bg>
    <p:spTree>
      <p:nvGrpSpPr>
        <p:cNvPr id="1" name=""/>
        <p:cNvGrpSpPr/>
        <p:nvPr/>
      </p:nvGrpSpPr>
      <p:grpSpPr>
        <a:xfrm>
          <a:off x="0" y="0"/>
          <a:ext cx="0" cy="0"/>
          <a:chOff x="0" y="0"/>
          <a:chExt cx="0" cy="0"/>
        </a:xfrm>
      </p:grpSpPr>
      <p:pic>
        <p:nvPicPr>
          <p:cNvPr id="2" name="College crest" descr="crest.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png"/>
          <p:cNvPicPr>
            <a:picLocks noChangeAspect="1"/>
          </p:cNvPicPr>
          <p:nvPr/>
        </p:nvPicPr>
        <p:blipFill>
          <a:blip r:embed="rId3"/>
          <a:stretch>
            <a:fillRect/>
          </a:stretch>
        </p:blipFill>
        <p:spPr>
          <a:xfrm>
            <a:off x="11639550" y="0"/>
            <a:ext cx="2076450" cy="1028700"/>
          </a:xfrm>
          <a:prstGeom prst="rect">
            <a:avLst/>
          </a:prstGeom>
        </p:spPr>
      </p:pic>
      <p:sp>
        <p:nvSpPr>
          <p:cNvPr id="4" name="Title"/>
          <p:cNvSpPr txBox="1"/>
          <p:nvPr/>
        </p:nvSpPr>
        <p:spPr>
          <a:xfrm>
            <a:off x="733425" y="1009650"/>
            <a:ext cx="10858500" cy="1047750"/>
          </a:xfrm>
          <a:prstGeom prst="rect">
            <a:avLst/>
          </a:prstGeom>
          <a:noFill/>
        </p:spPr>
        <p:txBody>
          <a:bodyPr wrap="square" lIns="0" tIns="0" rIns="0" bIns="0" anchor="t">
            <a:noAutofit/>
          </a:bodyPr>
          <a:lstStyle/>
          <a:p>
            <a:pPr algn="l">
              <a:lnSpc>
                <a:spcPct val="100000"/>
              </a:lnSpc>
            </a:pPr>
            <a:r>
              <a:rPr sz="3150" b="0" i="0">
                <a:solidFill>
                  <a:srgbClr val="8B5D52"/>
                </a:solidFill>
                <a:latin typeface="Times New Roman"/>
              </a:rPr>
              <a:t>Next Steps:</a:t>
            </a:r>
            <a:r>
              <a:rPr sz="3150" b="0" i="0">
                <a:solidFill>
                  <a:srgbClr val="3F342E"/>
                </a:solidFill>
                <a:latin typeface="Times New Roman"/>
              </a:rPr>
              <a:t> Taking ElderGuard from Prototype to Pilot</a:t>
            </a:r>
          </a:p>
        </p:txBody>
      </p:sp>
      <p:sp>
        <p:nvSpPr>
          <p:cNvPr id="5" name="Validate with Elders and Families"/>
          <p:cNvSpPr/>
          <p:nvPr/>
        </p:nvSpPr>
        <p:spPr>
          <a:xfrm>
            <a:off x="552450" y="2038350"/>
            <a:ext cx="8382000" cy="1447800"/>
          </a:xfrm>
          <a:prstGeom prst="roundRect">
            <a:avLst>
              <a:gd name="adj" fmla="val 9210"/>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19150" y="2466975"/>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con Users" descr="icon_Users_FFFFFF.png"/>
          <p:cNvPicPr>
            <a:picLocks noChangeAspect="1"/>
          </p:cNvPicPr>
          <p:nvPr/>
        </p:nvPicPr>
        <p:blipFill>
          <a:blip r:embed="rId4"/>
          <a:stretch>
            <a:fillRect/>
          </a:stretch>
        </p:blipFill>
        <p:spPr>
          <a:xfrm>
            <a:off x="972693" y="2620518"/>
            <a:ext cx="283464" cy="283464"/>
          </a:xfrm>
          <a:prstGeom prst="rect">
            <a:avLst/>
          </a:prstGeom>
        </p:spPr>
      </p:pic>
      <p:sp>
        <p:nvSpPr>
          <p:cNvPr id="8" name="Validate with Elders and Families title"/>
          <p:cNvSpPr txBox="1"/>
          <p:nvPr/>
        </p:nvSpPr>
        <p:spPr>
          <a:xfrm>
            <a:off x="1638300" y="2286000"/>
            <a:ext cx="7048500" cy="419100"/>
          </a:xfrm>
          <a:prstGeom prst="rect">
            <a:avLst/>
          </a:prstGeom>
          <a:noFill/>
        </p:spPr>
        <p:txBody>
          <a:bodyPr wrap="square" lIns="0" tIns="0" rIns="0" bIns="0" anchor="t">
            <a:noAutofit/>
          </a:bodyPr>
          <a:lstStyle/>
          <a:p>
            <a:pPr algn="l">
              <a:lnSpc>
                <a:spcPct val="112000"/>
              </a:lnSpc>
            </a:pPr>
            <a:r>
              <a:rPr sz="2550" b="0" i="0">
                <a:solidFill>
                  <a:srgbClr val="3F342E"/>
                </a:solidFill>
                <a:latin typeface="Times New Roman"/>
              </a:rPr>
              <a:t>Validate with Elders and Families</a:t>
            </a:r>
          </a:p>
        </p:txBody>
      </p:sp>
      <p:sp>
        <p:nvSpPr>
          <p:cNvPr id="9" name="Validate with Elders and Families text"/>
          <p:cNvSpPr txBox="1"/>
          <p:nvPr/>
        </p:nvSpPr>
        <p:spPr>
          <a:xfrm>
            <a:off x="1638300" y="2762250"/>
            <a:ext cx="7048500" cy="66675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Run usability sessions with older adults and caregivers, and refine the screens from what they struggle with.</a:t>
            </a:r>
          </a:p>
        </p:txBody>
      </p:sp>
      <p:sp>
        <p:nvSpPr>
          <p:cNvPr id="10" name="Harden for Real Use"/>
          <p:cNvSpPr/>
          <p:nvPr/>
        </p:nvSpPr>
        <p:spPr>
          <a:xfrm>
            <a:off x="552450" y="3676650"/>
            <a:ext cx="8382000" cy="1447800"/>
          </a:xfrm>
          <a:prstGeom prst="roundRect">
            <a:avLst>
              <a:gd name="adj" fmla="val 9210"/>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19150" y="4105275"/>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Icon ShieldCheck" descr="icon_ShieldCheck_FFFFFF.png"/>
          <p:cNvPicPr>
            <a:picLocks noChangeAspect="1"/>
          </p:cNvPicPr>
          <p:nvPr/>
        </p:nvPicPr>
        <p:blipFill>
          <a:blip r:embed="rId5"/>
          <a:stretch>
            <a:fillRect/>
          </a:stretch>
        </p:blipFill>
        <p:spPr>
          <a:xfrm>
            <a:off x="972693" y="4258818"/>
            <a:ext cx="283464" cy="283464"/>
          </a:xfrm>
          <a:prstGeom prst="rect">
            <a:avLst/>
          </a:prstGeom>
        </p:spPr>
      </p:pic>
      <p:sp>
        <p:nvSpPr>
          <p:cNvPr id="13" name="Harden for Real Use title"/>
          <p:cNvSpPr txBox="1"/>
          <p:nvPr/>
        </p:nvSpPr>
        <p:spPr>
          <a:xfrm>
            <a:off x="1638300" y="3924300"/>
            <a:ext cx="7048500" cy="419100"/>
          </a:xfrm>
          <a:prstGeom prst="rect">
            <a:avLst/>
          </a:prstGeom>
          <a:noFill/>
        </p:spPr>
        <p:txBody>
          <a:bodyPr wrap="square" lIns="0" tIns="0" rIns="0" bIns="0" anchor="t">
            <a:noAutofit/>
          </a:bodyPr>
          <a:lstStyle/>
          <a:p>
            <a:pPr algn="l">
              <a:lnSpc>
                <a:spcPct val="112000"/>
              </a:lnSpc>
            </a:pPr>
            <a:r>
              <a:rPr sz="2550" b="0" i="0">
                <a:solidFill>
                  <a:srgbClr val="3F342E"/>
                </a:solidFill>
                <a:latin typeface="Times New Roman"/>
              </a:rPr>
              <a:t>Harden for Real Use</a:t>
            </a:r>
          </a:p>
        </p:txBody>
      </p:sp>
      <p:sp>
        <p:nvSpPr>
          <p:cNvPr id="14" name="Harden for Real Use text"/>
          <p:cNvSpPr txBox="1"/>
          <p:nvPr/>
        </p:nvSpPr>
        <p:spPr>
          <a:xfrm>
            <a:off x="1638300" y="4400550"/>
            <a:ext cx="7048500" cy="66675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Add SMS and call alerts, secure secrets and logins, privacy consent and monitoring.</a:t>
            </a:r>
          </a:p>
        </p:txBody>
      </p:sp>
      <p:sp>
        <p:nvSpPr>
          <p:cNvPr id="15" name="Pilot and Scale"/>
          <p:cNvSpPr/>
          <p:nvPr/>
        </p:nvSpPr>
        <p:spPr>
          <a:xfrm>
            <a:off x="552450" y="5314950"/>
            <a:ext cx="8382000" cy="1447800"/>
          </a:xfrm>
          <a:prstGeom prst="roundRect">
            <a:avLst>
              <a:gd name="adj" fmla="val 9210"/>
            </a:avLst>
          </a:prstGeom>
          <a:solidFill>
            <a:srgbClr val="E9E2DE"/>
          </a:solidFill>
          <a:ln w="9525">
            <a:solidFill>
              <a:srgbClr val="D8CF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19150" y="5743575"/>
            <a:ext cx="590550" cy="590550"/>
          </a:xfrm>
          <a:prstGeom prst="ellipse">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Icon Rocket" descr="icon_Rocket_FFFFFF.png"/>
          <p:cNvPicPr>
            <a:picLocks noChangeAspect="1"/>
          </p:cNvPicPr>
          <p:nvPr/>
        </p:nvPicPr>
        <p:blipFill>
          <a:blip r:embed="rId6"/>
          <a:stretch>
            <a:fillRect/>
          </a:stretch>
        </p:blipFill>
        <p:spPr>
          <a:xfrm>
            <a:off x="972693" y="5897118"/>
            <a:ext cx="283464" cy="283464"/>
          </a:xfrm>
          <a:prstGeom prst="rect">
            <a:avLst/>
          </a:prstGeom>
        </p:spPr>
      </p:pic>
      <p:sp>
        <p:nvSpPr>
          <p:cNvPr id="18" name="Pilot and Scale title"/>
          <p:cNvSpPr txBox="1"/>
          <p:nvPr/>
        </p:nvSpPr>
        <p:spPr>
          <a:xfrm>
            <a:off x="1638300" y="5562600"/>
            <a:ext cx="7048500" cy="419100"/>
          </a:xfrm>
          <a:prstGeom prst="rect">
            <a:avLst/>
          </a:prstGeom>
          <a:noFill/>
        </p:spPr>
        <p:txBody>
          <a:bodyPr wrap="square" lIns="0" tIns="0" rIns="0" bIns="0" anchor="t">
            <a:noAutofit/>
          </a:bodyPr>
          <a:lstStyle/>
          <a:p>
            <a:pPr algn="l">
              <a:lnSpc>
                <a:spcPct val="112000"/>
              </a:lnSpc>
            </a:pPr>
            <a:r>
              <a:rPr sz="2550" b="0" i="0">
                <a:solidFill>
                  <a:srgbClr val="3F342E"/>
                </a:solidFill>
                <a:latin typeface="Times New Roman"/>
              </a:rPr>
              <a:t>Pilot and Scale</a:t>
            </a:r>
          </a:p>
        </p:txBody>
      </p:sp>
      <p:sp>
        <p:nvSpPr>
          <p:cNvPr id="19" name="Pilot and Scale text"/>
          <p:cNvSpPr txBox="1"/>
          <p:nvPr/>
        </p:nvSpPr>
        <p:spPr>
          <a:xfrm>
            <a:off x="1638300" y="6038850"/>
            <a:ext cx="7048500" cy="66675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Partner with a clinic or care home for a small pilot, measure results, then expand.</a:t>
            </a:r>
          </a:p>
        </p:txBody>
      </p:sp>
      <p:sp>
        <p:nvSpPr>
          <p:cNvPr id="20" name="In summary"/>
          <p:cNvSpPr/>
          <p:nvPr/>
        </p:nvSpPr>
        <p:spPr>
          <a:xfrm>
            <a:off x="9296400" y="2038350"/>
            <a:ext cx="3867150" cy="4705350"/>
          </a:xfrm>
          <a:prstGeom prst="roundRect">
            <a:avLst>
              <a:gd name="adj" fmla="val 3448"/>
            </a:avLst>
          </a:prstGeom>
          <a:solidFill>
            <a:srgbClr val="8B5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ummary title"/>
          <p:cNvSpPr txBox="1"/>
          <p:nvPr/>
        </p:nvSpPr>
        <p:spPr>
          <a:xfrm>
            <a:off x="9601200" y="2362200"/>
            <a:ext cx="3238500" cy="419100"/>
          </a:xfrm>
          <a:prstGeom prst="rect">
            <a:avLst/>
          </a:prstGeom>
          <a:noFill/>
        </p:spPr>
        <p:txBody>
          <a:bodyPr wrap="square" lIns="0" tIns="0" rIns="0" bIns="0" anchor="t">
            <a:noAutofit/>
          </a:bodyPr>
          <a:lstStyle/>
          <a:p>
            <a:pPr algn="l">
              <a:lnSpc>
                <a:spcPct val="112000"/>
              </a:lnSpc>
            </a:pPr>
            <a:r>
              <a:rPr sz="2550" b="0" i="0">
                <a:solidFill>
                  <a:srgbClr val="FFFFFF"/>
                </a:solidFill>
                <a:latin typeface="Times New Roman"/>
              </a:rPr>
              <a:t>In Summary</a:t>
            </a:r>
          </a:p>
        </p:txBody>
      </p:sp>
      <p:sp>
        <p:nvSpPr>
          <p:cNvPr id="22" name="Summary flow"/>
          <p:cNvSpPr txBox="1"/>
          <p:nvPr/>
        </p:nvSpPr>
        <p:spPr>
          <a:xfrm>
            <a:off x="9601200" y="3048000"/>
            <a:ext cx="3295650" cy="2190750"/>
          </a:xfrm>
          <a:prstGeom prst="rect">
            <a:avLst/>
          </a:prstGeom>
          <a:noFill/>
        </p:spPr>
        <p:txBody>
          <a:bodyPr wrap="square" lIns="0" tIns="0" rIns="0" bIns="0" anchor="t">
            <a:noAutofit/>
          </a:bodyPr>
          <a:lstStyle/>
          <a:p>
            <a:pPr algn="l">
              <a:lnSpc>
                <a:spcPct val="135000"/>
              </a:lnSpc>
            </a:pPr>
            <a:r>
              <a:rPr sz="2175" b="0" i="0">
                <a:solidFill>
                  <a:srgbClr val="FFFFFF"/>
                </a:solidFill>
                <a:latin typeface="Times New Roman"/>
              </a:rPr>
              <a:t>Connected information</a:t>
            </a:r>
          </a:p>
          <a:p>
            <a:pPr algn="l">
              <a:lnSpc>
                <a:spcPct val="135000"/>
              </a:lnSpc>
            </a:pPr>
            <a:r>
              <a:rPr sz="2175" b="0" i="0">
                <a:solidFill>
                  <a:srgbClr val="FFFFFF"/>
                </a:solidFill>
                <a:latin typeface="Times New Roman"/>
              </a:rPr>
              <a:t>→ faster response</a:t>
            </a:r>
          </a:p>
          <a:p>
            <a:pPr algn="l">
              <a:lnSpc>
                <a:spcPct val="135000"/>
              </a:lnSpc>
            </a:pPr>
            <a:r>
              <a:rPr sz="2175" b="0" i="0">
                <a:solidFill>
                  <a:srgbClr val="FFFFFF"/>
                </a:solidFill>
                <a:latin typeface="Times New Roman"/>
              </a:rPr>
              <a:t>→ safer elders</a:t>
            </a:r>
          </a:p>
          <a:p>
            <a:pPr algn="l">
              <a:lnSpc>
                <a:spcPct val="135000"/>
              </a:lnSpc>
            </a:pPr>
            <a:r>
              <a:rPr sz="2175" b="0" i="0">
                <a:solidFill>
                  <a:srgbClr val="FFFFFF"/>
                </a:solidFill>
                <a:latin typeface="Times New Roman"/>
              </a:rPr>
              <a:t>→ peace of mind</a:t>
            </a:r>
          </a:p>
        </p:txBody>
      </p:sp>
      <p:sp>
        <p:nvSpPr>
          <p:cNvPr id="23" name="Summary note"/>
          <p:cNvSpPr txBox="1"/>
          <p:nvPr/>
        </p:nvSpPr>
        <p:spPr>
          <a:xfrm>
            <a:off x="9601200" y="5715000"/>
            <a:ext cx="3238500" cy="762000"/>
          </a:xfrm>
          <a:prstGeom prst="rect">
            <a:avLst/>
          </a:prstGeom>
          <a:noFill/>
        </p:spPr>
        <p:txBody>
          <a:bodyPr wrap="square" lIns="0" tIns="0" rIns="0" bIns="0" anchor="t">
            <a:noAutofit/>
          </a:bodyPr>
          <a:lstStyle/>
          <a:p>
            <a:pPr algn="l">
              <a:lnSpc>
                <a:spcPct val="112000"/>
              </a:lnSpc>
            </a:pPr>
            <a:r>
              <a:rPr sz="1650" b="0" i="1">
                <a:solidFill>
                  <a:srgbClr val="F0DED7"/>
                </a:solidFill>
                <a:latin typeface="Times New Roman"/>
              </a:rPr>
              <a:t>Start small, measure impact, and scale what works.</a:t>
            </a:r>
          </a:p>
        </p:txBody>
      </p:sp>
      <p:sp>
        <p:nvSpPr>
          <p:cNvPr id="24" name="Footer"/>
          <p:cNvSpPr txBox="1"/>
          <p:nvPr/>
        </p:nvSpPr>
        <p:spPr>
          <a:xfrm>
            <a:off x="552450" y="7162800"/>
            <a:ext cx="12611100" cy="476250"/>
          </a:xfrm>
          <a:prstGeom prst="rect">
            <a:avLst/>
          </a:prstGeom>
          <a:noFill/>
        </p:spPr>
        <p:txBody>
          <a:bodyPr wrap="square" lIns="0" tIns="0" rIns="0" bIns="0" anchor="t">
            <a:noAutofit/>
          </a:bodyPr>
          <a:lstStyle/>
          <a:p>
            <a:pPr algn="l">
              <a:lnSpc>
                <a:spcPct val="112000"/>
              </a:lnSpc>
            </a:pPr>
            <a:r>
              <a:rPr sz="1575" b="0" i="0">
                <a:solidFill>
                  <a:srgbClr val="3F342E"/>
                </a:solidFill>
                <a:latin typeface="Times New Roman"/>
              </a:rPr>
              <a:t>Elder care is an ongoing commitment to staying close to the people we serve and improving relentlessly.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pic>
        <p:nvPicPr>
          <p:cNvPr id="2" name="College crest" descr="crest-grey.png"/>
          <p:cNvPicPr>
            <a:picLocks noChangeAspect="1"/>
          </p:cNvPicPr>
          <p:nvPr/>
        </p:nvPicPr>
        <p:blipFill>
          <a:blip r:embed="rId2"/>
          <a:stretch>
            <a:fillRect/>
          </a:stretch>
        </p:blipFill>
        <p:spPr>
          <a:xfrm>
            <a:off x="0" y="0"/>
            <a:ext cx="1066800" cy="1066800"/>
          </a:xfrm>
          <a:prstGeom prst="rect">
            <a:avLst/>
          </a:prstGeom>
        </p:spPr>
      </p:pic>
      <p:pic>
        <p:nvPicPr>
          <p:cNvPr id="3" name="SNS and Design Thinking badges" descr="badges-grey.png"/>
          <p:cNvPicPr>
            <a:picLocks noChangeAspect="1"/>
          </p:cNvPicPr>
          <p:nvPr/>
        </p:nvPicPr>
        <p:blipFill>
          <a:blip r:embed="rId3"/>
          <a:stretch>
            <a:fillRect/>
          </a:stretch>
        </p:blipFill>
        <p:spPr>
          <a:xfrm>
            <a:off x="11639550" y="0"/>
            <a:ext cx="2076450" cy="1028700"/>
          </a:xfrm>
          <a:prstGeom prst="rect">
            <a:avLst/>
          </a:prstGeom>
        </p:spPr>
      </p:pic>
      <p:sp>
        <p:nvSpPr>
          <p:cNvPr id="4" name="Thank you"/>
          <p:cNvSpPr txBox="1"/>
          <p:nvPr/>
        </p:nvSpPr>
        <p:spPr>
          <a:xfrm>
            <a:off x="0" y="3067050"/>
            <a:ext cx="13716000" cy="1047750"/>
          </a:xfrm>
          <a:prstGeom prst="rect">
            <a:avLst/>
          </a:prstGeom>
          <a:noFill/>
        </p:spPr>
        <p:txBody>
          <a:bodyPr wrap="square" lIns="0" tIns="0" rIns="0" bIns="0" anchor="t">
            <a:noAutofit/>
          </a:bodyPr>
          <a:lstStyle/>
          <a:p>
            <a:pPr algn="ctr">
              <a:lnSpc>
                <a:spcPct val="112000"/>
              </a:lnSpc>
            </a:pPr>
            <a:r>
              <a:rPr sz="6075" b="1" i="0">
                <a:solidFill>
                  <a:srgbClr val="1D1D1D"/>
                </a:solidFill>
                <a:latin typeface="Arial"/>
              </a:rPr>
              <a:t>Thank you!</a:t>
            </a:r>
          </a:p>
        </p:txBody>
      </p:sp>
      <p:sp>
        <p:nvSpPr>
          <p:cNvPr id="5" name="Tagline"/>
          <p:cNvSpPr txBox="1"/>
          <p:nvPr/>
        </p:nvSpPr>
        <p:spPr>
          <a:xfrm>
            <a:off x="0" y="4267200"/>
            <a:ext cx="13716000" cy="419100"/>
          </a:xfrm>
          <a:prstGeom prst="rect">
            <a:avLst/>
          </a:prstGeom>
          <a:noFill/>
        </p:spPr>
        <p:txBody>
          <a:bodyPr wrap="square" lIns="0" tIns="0" rIns="0" bIns="0" anchor="t">
            <a:noAutofit/>
          </a:bodyPr>
          <a:lstStyle/>
          <a:p>
            <a:pPr algn="ctr">
              <a:lnSpc>
                <a:spcPct val="112000"/>
              </a:lnSpc>
            </a:pPr>
            <a:r>
              <a:rPr sz="1950" b="0" i="0">
                <a:solidFill>
                  <a:srgbClr val="555555"/>
                </a:solidFill>
                <a:latin typeface="Arial"/>
              </a:rPr>
              <a:t>ElderGuard AI: Care that reaches them, wherever you 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1723</Words>
  <Application>Microsoft Macintosh PowerPoint</Application>
  <PresentationFormat>Custom</PresentationFormat>
  <Paragraphs>181</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Manager/>
  <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
  <cp:keywords/>
  <dc:description>generated using python-pptx</dc:description>
  <cp:lastModifiedBy>Admin</cp:lastModifiedBy>
  <cp:revision>2</cp:revision>
  <dcterms:created xsi:type="dcterms:W3CDTF">2013-01-27T09:14:16Z</dcterms:created>
  <dcterms:modified xsi:type="dcterms:W3CDTF">2026-10-08T11:17:51Z</dcterms:modified>
  <cp:category/>
</cp:coreProperties>
</file>